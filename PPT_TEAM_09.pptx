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59" r:id="rId1"/>
  </p:sldMasterIdLst>
  <p:notesMasterIdLst>
    <p:notesMasterId r:id="rId22"/>
  </p:notesMasterIdLst>
  <p:sldIdLst>
    <p:sldId id="965" r:id="rId2"/>
    <p:sldId id="966" r:id="rId3"/>
    <p:sldId id="1020" r:id="rId4"/>
    <p:sldId id="1026" r:id="rId5"/>
    <p:sldId id="967" r:id="rId6"/>
    <p:sldId id="1030" r:id="rId7"/>
    <p:sldId id="1031" r:id="rId8"/>
    <p:sldId id="1032" r:id="rId9"/>
    <p:sldId id="1021" r:id="rId10"/>
    <p:sldId id="1022" r:id="rId11"/>
    <p:sldId id="1033" r:id="rId12"/>
    <p:sldId id="1023" r:id="rId13"/>
    <p:sldId id="1024" r:id="rId14"/>
    <p:sldId id="1034" r:id="rId15"/>
    <p:sldId id="1037" r:id="rId16"/>
    <p:sldId id="1038" r:id="rId17"/>
    <p:sldId id="1036" r:id="rId18"/>
    <p:sldId id="1025" r:id="rId19"/>
    <p:sldId id="1035" r:id="rId20"/>
    <p:sldId id="1008"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02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p:scale>
          <a:sx n="75" d="100"/>
          <a:sy n="75" d="100"/>
        </p:scale>
        <p:origin x="974" y="2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381000" y="685800"/>
            <a:ext cx="6096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7739982"/>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371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011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0170D-ACB9-A0AF-C3C3-0F4069A55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C7BC3-E08C-F1C7-0C36-24A52332B1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510627-71E6-0C76-4A7C-3CA5D3C73F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C99BA0-F0C0-4186-7390-4F6849A527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0938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4583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BD16-C95A-23C6-4BBA-0731EF815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2D61C-E83E-596C-6617-9865C1F5CF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33FF554-C355-6214-ABE1-228FD8B5E8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207668-F8FE-C5C4-B77B-A56DC079EE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5714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E2340-662E-E6A2-CB0D-0792424AD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C1B96-D1D8-D7EE-375A-9692489B7E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BC8F610-8428-B254-B543-C0FD406E8E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DF9DF5-B1D9-48F2-6EE3-3E055D2899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0040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D9894-6CD8-05F8-A813-E8FDFC7F5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23E85-E051-39D5-4240-303399E8AD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75EA22E-594D-FC6C-4080-B00282973D8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E9DB58-48F6-71D2-A6BB-471E2D5E22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3163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7386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817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12A65-BE0A-ACFF-E75D-851E37D64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01948-C511-EA2F-2187-7E787BCAD32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D63DC66-ED9D-0503-0C10-D01224FAF71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14FDCA-F114-A628-A665-07DDBC3BC0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1514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669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143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91C86-FD5E-F470-FC27-B218AFBEB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AA13F-1EF1-DB19-90DC-F90BFFD6E8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EB5DD9C-D40A-6D64-0E08-4502F96894D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8009A9-513E-3D97-E210-AFD342514C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3839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48E5B-934E-3698-974C-9DC36D3F9E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48665-643A-2DA3-DB5F-BD4CBA34BB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D45AD2F-9DAE-B02D-1E6C-028F939BF5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93F0734-1605-CCD9-C4AD-B993704DA3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3312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B396-5AAD-2F8A-3D57-B7C8637BA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569C4-8E2A-3A09-E834-37C5D701FF4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2097504-1D66-DA8D-E6CE-00B0CFE3ED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F5A7A3-A2FF-3396-0681-184A186EF0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0651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05B9-A6FC-5CF4-E57F-C80AEE23C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433E8-9872-A3FA-4508-9F3BAFCE1C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1879E1D-5081-AB2B-7F11-C96081D3F6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7E20B28-6248-21CA-AFFA-D7B5BB6519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6552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2983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E63C-997A-02AC-19D3-205914A2C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2D68-96EA-601C-69CB-A1988DEC25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F50379-2071-AFBB-D5C7-DB665776BB4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A809D2-ACE9-D550-1991-2838765E46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0318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71766878-3199-4EAB-94E7-2D6D11070E14}" type="slidenum">
              <a:rPr lang="en-US" smtClean="0"/>
              <a:pPr/>
              <a:t>‹#›</a:t>
            </a:fld>
            <a:endParaRPr lang="en-US"/>
          </a:p>
        </p:txBody>
      </p:sp>
    </p:spTree>
    <p:extLst>
      <p:ext uri="{BB962C8B-B14F-4D97-AF65-F5344CB8AC3E}">
        <p14:creationId xmlns:p14="http://schemas.microsoft.com/office/powerpoint/2010/main" val="347490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341197" y="1137256"/>
            <a:ext cx="11436823"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341197" y="348665"/>
            <a:ext cx="11436823" cy="421441"/>
          </a:xfrm>
        </p:spPr>
        <p:txBody>
          <a:bodyPr>
            <a:noAutofit/>
          </a:bodyPr>
          <a:lstStyle>
            <a:lvl1pPr>
              <a:defRPr sz="24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89" y="6412495"/>
            <a:ext cx="12218977" cy="478447"/>
          </a:xfrm>
          <a:prstGeom prst="rect">
            <a:avLst/>
          </a:prstGeom>
        </p:spPr>
      </p:pic>
      <p:pic>
        <p:nvPicPr>
          <p:cNvPr id="9" name="Picture 8">
            <a:extLst>
              <a:ext uri="{FF2B5EF4-FFF2-40B4-BE49-F238E27FC236}">
                <a16:creationId xmlns:a16="http://schemas.microsoft.com/office/drawing/2014/main" id="{0AD13F47-3531-4371-B8DB-59E457D073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5255" y="6520072"/>
            <a:ext cx="1262820" cy="283912"/>
          </a:xfrm>
          <a:prstGeom prst="rect">
            <a:avLst/>
          </a:prstGeom>
        </p:spPr>
      </p:pic>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a:xfrm>
            <a:off x="115959" y="6478755"/>
            <a:ext cx="758687" cy="365125"/>
          </a:xfrm>
        </p:spPr>
        <p:txBody>
          <a:bodyPr/>
          <a:lstStyle>
            <a:lvl1pPr>
              <a:defRPr sz="1200">
                <a:solidFill>
                  <a:schemeClr val="bg1"/>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3786509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extLst>
      <p:ext uri="{BB962C8B-B14F-4D97-AF65-F5344CB8AC3E}">
        <p14:creationId xmlns:p14="http://schemas.microsoft.com/office/powerpoint/2010/main" val="1296783849"/>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1015E1-575C-CC43-8E0C-38A94C0D07B1}"/>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D70D65-9225-7C42-BE9D-7E7ACD230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D5A4A-C107-8941-A91D-265C67035296}"/>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79748F1F-AA4B-E44F-87CA-30B4D3D4B1A6}"/>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F76259-99F7-DF4A-8A42-0737A8CCEBF7}"/>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2034448342"/>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Lst>
  <p:hf hdr="0" ftr="0" dt="0"/>
  <p:txStyles>
    <p:titleStyle>
      <a:lvl1pPr algn="l" defTabSz="685800" rtl="0" eaLnBrk="1" latinLnBrk="0" hangingPunct="1">
        <a:lnSpc>
          <a:spcPct val="90000"/>
        </a:lnSpc>
        <a:spcBef>
          <a:spcPct val="0"/>
        </a:spcBef>
        <a:buNone/>
        <a:defRPr sz="3000" kern="1200">
          <a:solidFill>
            <a:schemeClr val="tx1"/>
          </a:solidFill>
          <a:latin typeface="Georgia" panose="02040502050405020303" pitchFamily="18"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7BCD-DE16-49A3-B1A7-AEBDA2E5992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8DECB28-C985-4B5A-9CDD-08CA290545D3}"/>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id="{BC0CFD00-3FA3-41EB-9053-EE933B60616C}"/>
              </a:ext>
            </a:extLst>
          </p:cNvPr>
          <p:cNvSpPr/>
          <p:nvPr/>
        </p:nvSpPr>
        <p:spPr>
          <a:xfrm>
            <a:off x="0" y="-4762"/>
            <a:ext cx="12192000" cy="72136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4400" dirty="0">
              <a:solidFill>
                <a:prstClr val="white"/>
              </a:solidFill>
              <a:latin typeface="Georgia" panose="02040502050405020303" pitchFamily="18" charset="0"/>
            </a:endParaRPr>
          </a:p>
        </p:txBody>
      </p:sp>
      <p:pic>
        <p:nvPicPr>
          <p:cNvPr id="6" name="Picture 5" descr="A picture containing drawing&#10;&#10;Description automatically generated">
            <a:extLst>
              <a:ext uri="{FF2B5EF4-FFF2-40B4-BE49-F238E27FC236}">
                <a16:creationId xmlns:a16="http://schemas.microsoft.com/office/drawing/2014/main" id="{601DD6C4-398E-4151-A3CB-D0D93CDFAAEE}"/>
              </a:ext>
            </a:extLst>
          </p:cNvPr>
          <p:cNvPicPr>
            <a:picLocks noChangeAspect="1"/>
          </p:cNvPicPr>
          <p:nvPr/>
        </p:nvPicPr>
        <p:blipFill>
          <a:blip r:embed="rId2"/>
          <a:stretch>
            <a:fillRect/>
          </a:stretch>
        </p:blipFill>
        <p:spPr>
          <a:xfrm>
            <a:off x="7601101" y="5349875"/>
            <a:ext cx="4590899" cy="1473199"/>
          </a:xfrm>
          <a:prstGeom prst="rect">
            <a:avLst/>
          </a:prstGeom>
        </p:spPr>
      </p:pic>
      <p:sp>
        <p:nvSpPr>
          <p:cNvPr id="9" name="Slide Number Placeholder 1">
            <a:extLst>
              <a:ext uri="{FF2B5EF4-FFF2-40B4-BE49-F238E27FC236}">
                <a16:creationId xmlns:a16="http://schemas.microsoft.com/office/drawing/2014/main" id="{D6331B53-2438-4F04-85AA-8E0753CB5A59}"/>
              </a:ext>
            </a:extLst>
          </p:cNvPr>
          <p:cNvSpPr>
            <a:spLocks noGrp="1"/>
          </p:cNvSpPr>
          <p:nvPr>
            <p:ph type="sldNum" sz="quarter" idx="12"/>
          </p:nvPr>
        </p:nvSpPr>
        <p:spPr>
          <a:xfrm>
            <a:off x="8610600" y="6356350"/>
            <a:ext cx="2743200" cy="365125"/>
          </a:xfrm>
        </p:spPr>
        <p:txBody>
          <a:bodyPr/>
          <a:lstStyle/>
          <a:p>
            <a:fld id="{71766878-3199-4EAB-94E7-2D6D11070E14}" type="slidenum">
              <a:rPr lang="en-US" smtClean="0"/>
              <a:pPr/>
              <a:t>1</a:t>
            </a:fld>
            <a:endParaRPr lang="en-US" dirty="0"/>
          </a:p>
        </p:txBody>
      </p:sp>
      <p:sp>
        <p:nvSpPr>
          <p:cNvPr id="10" name="Rectangle 9">
            <a:extLst>
              <a:ext uri="{FF2B5EF4-FFF2-40B4-BE49-F238E27FC236}">
                <a16:creationId xmlns:a16="http://schemas.microsoft.com/office/drawing/2014/main" id="{4765D4A2-2674-4D26-B5DA-1CFF8AFC3301}"/>
              </a:ext>
            </a:extLst>
          </p:cNvPr>
          <p:cNvSpPr/>
          <p:nvPr/>
        </p:nvSpPr>
        <p:spPr>
          <a:xfrm>
            <a:off x="1681767" y="350818"/>
            <a:ext cx="9228450" cy="969496"/>
          </a:xfrm>
          <a:prstGeom prst="rect">
            <a:avLst/>
          </a:prstGeom>
          <a:noFill/>
        </p:spPr>
        <p:txBody>
          <a:bodyPr wrap="square" lIns="91440" tIns="45720" rIns="91440" bIns="45720" anchor="t">
            <a:spAutoFit/>
          </a:bodyPr>
          <a:lstStyle/>
          <a:p>
            <a:pPr algn="ctr">
              <a:spcAft>
                <a:spcPts val="600"/>
              </a:spcAft>
            </a:pPr>
            <a:r>
              <a:rPr lang="en-US" sz="2600" kern="2400" dirty="0">
                <a:solidFill>
                  <a:schemeClr val="bg1"/>
                </a:solidFill>
                <a:latin typeface="Times New Roman" panose="02020603050405020304" pitchFamily="18" charset="0"/>
                <a:ea typeface="MS Mincho" panose="02020609040205080304" pitchFamily="49" charset="-128"/>
              </a:rPr>
              <a:t>Real-Time Traffic Congestion Prediction Using </a:t>
            </a:r>
          </a:p>
          <a:p>
            <a:pPr algn="ctr">
              <a:spcAft>
                <a:spcPts val="600"/>
              </a:spcAft>
            </a:pPr>
            <a:r>
              <a:rPr lang="en-US" sz="2600" kern="2400" dirty="0">
                <a:solidFill>
                  <a:schemeClr val="bg1"/>
                </a:solidFill>
                <a:latin typeface="Times New Roman" panose="02020603050405020304" pitchFamily="18" charset="0"/>
                <a:ea typeface="MS Mincho" panose="02020609040205080304" pitchFamily="49" charset="-128"/>
              </a:rPr>
              <a:t>Graph-Based Stream Mining</a:t>
            </a:r>
            <a:endParaRPr lang="en-US" sz="2600" dirty="0">
              <a:solidFill>
                <a:schemeClr val="bg1"/>
              </a:solidFill>
              <a:effectLst/>
              <a:latin typeface="Times New Roman" panose="02020603050405020304" pitchFamily="18" charset="0"/>
              <a:ea typeface="MS Mincho" panose="02020609040205080304" pitchFamily="49" charset="-128"/>
            </a:endParaRPr>
          </a:p>
        </p:txBody>
      </p:sp>
      <p:sp>
        <p:nvSpPr>
          <p:cNvPr id="14" name="Team Members     Group No: 13…">
            <a:extLst>
              <a:ext uri="{FF2B5EF4-FFF2-40B4-BE49-F238E27FC236}">
                <a16:creationId xmlns:a16="http://schemas.microsoft.com/office/drawing/2014/main" id="{D2EE4D94-3119-A8EC-3E4E-C059441E1B2A}"/>
              </a:ext>
            </a:extLst>
          </p:cNvPr>
          <p:cNvSpPr txBox="1"/>
          <p:nvPr/>
        </p:nvSpPr>
        <p:spPr>
          <a:xfrm>
            <a:off x="1854201" y="1373257"/>
            <a:ext cx="8883583" cy="447985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p>
            <a:pPr>
              <a:lnSpc>
                <a:spcPct val="80000"/>
              </a:lnSpc>
              <a:spcBef>
                <a:spcPts val="400"/>
              </a:spcBef>
              <a:defRPr sz="2000" b="1">
                <a:latin typeface="+mn-lt"/>
                <a:ea typeface="+mn-ea"/>
                <a:cs typeface="+mn-cs"/>
                <a:sym typeface="Arial"/>
              </a:defRPr>
            </a:pPr>
            <a:r>
              <a:rPr sz="2000" dirty="0">
                <a:solidFill>
                  <a:schemeClr val="bg1">
                    <a:lumMod val="95000"/>
                  </a:schemeClr>
                </a:solidFill>
                <a:latin typeface="Times New Roman" panose="02020603050405020304" pitchFamily="18" charset="0"/>
                <a:cs typeface="Times New Roman" panose="02020603050405020304" pitchFamily="18" charset="0"/>
              </a:rPr>
              <a:t>Team</a:t>
            </a:r>
            <a:r>
              <a:rPr lang="en-IN" sz="2000" dirty="0">
                <a:solidFill>
                  <a:schemeClr val="bg1">
                    <a:lumMod val="95000"/>
                  </a:schemeClr>
                </a:solidFill>
                <a:latin typeface="Times New Roman" panose="02020603050405020304" pitchFamily="18" charset="0"/>
                <a:cs typeface="Times New Roman" panose="02020603050405020304" pitchFamily="18" charset="0"/>
              </a:rPr>
              <a:t>_No</a:t>
            </a:r>
            <a:r>
              <a:rPr lang="en-US" sz="2000" dirty="0">
                <a:solidFill>
                  <a:schemeClr val="bg1">
                    <a:lumMod val="95000"/>
                  </a:schemeClr>
                </a:solidFill>
                <a:latin typeface="Times New Roman" panose="02020603050405020304" pitchFamily="18" charset="0"/>
                <a:cs typeface="Times New Roman" panose="02020603050405020304" pitchFamily="18" charset="0"/>
              </a:rPr>
              <a:t>: 09                  </a:t>
            </a:r>
            <a:r>
              <a:rPr sz="2000" dirty="0">
                <a:solidFill>
                  <a:schemeClr val="bg1">
                    <a:lumMod val="95000"/>
                  </a:schemeClr>
                </a:solidFill>
                <a:latin typeface="Times New Roman" panose="02020603050405020304" pitchFamily="18" charset="0"/>
                <a:cs typeface="Times New Roman" panose="02020603050405020304" pitchFamily="18" charset="0"/>
              </a:rPr>
              <a:t>		</a:t>
            </a:r>
            <a:r>
              <a:rPr lang="en-IN" sz="2000" dirty="0">
                <a:solidFill>
                  <a:schemeClr val="bg1">
                    <a:lumMod val="95000"/>
                  </a:schemeClr>
                </a:solidFill>
                <a:latin typeface="Times New Roman" panose="02020603050405020304" pitchFamily="18" charset="0"/>
                <a:cs typeface="Times New Roman" panose="02020603050405020304" pitchFamily="18" charset="0"/>
              </a:rPr>
              <a:t>   		</a:t>
            </a:r>
            <a:endParaRPr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a:pPr>
            <a:endParaRPr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a:pPr>
            <a:endParaRPr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b="1">
                <a:latin typeface="+mn-lt"/>
                <a:ea typeface="+mn-ea"/>
                <a:cs typeface="+mn-cs"/>
                <a:sym typeface="Arial"/>
              </a:defRPr>
            </a:pPr>
            <a:endParaRPr lang="en-IN"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b="1">
                <a:latin typeface="+mn-lt"/>
                <a:ea typeface="+mn-ea"/>
                <a:cs typeface="+mn-cs"/>
                <a:sym typeface="Arial"/>
              </a:defRPr>
            </a:pPr>
            <a:endParaRPr lang="en-IN"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b="1">
                <a:latin typeface="+mn-lt"/>
                <a:ea typeface="+mn-ea"/>
                <a:cs typeface="+mn-cs"/>
                <a:sym typeface="Arial"/>
              </a:defRPr>
            </a:pPr>
            <a:endParaRPr lang="en-IN"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b="1">
                <a:latin typeface="+mn-lt"/>
                <a:ea typeface="+mn-ea"/>
                <a:cs typeface="+mn-cs"/>
                <a:sym typeface="Arial"/>
              </a:defRPr>
            </a:pPr>
            <a:endParaRPr lang="en-IN" sz="2000" dirty="0">
              <a:solidFill>
                <a:schemeClr val="bg1">
                  <a:lumMod val="95000"/>
                </a:schemeClr>
              </a:solidFill>
              <a:latin typeface="Times New Roman" panose="02020603050405020304" pitchFamily="18" charset="0"/>
              <a:cs typeface="Times New Roman" panose="02020603050405020304" pitchFamily="18" charset="0"/>
            </a:endParaRPr>
          </a:p>
        </p:txBody>
      </p:sp>
      <p:graphicFrame>
        <p:nvGraphicFramePr>
          <p:cNvPr id="16" name="Table 16">
            <a:extLst>
              <a:ext uri="{FF2B5EF4-FFF2-40B4-BE49-F238E27FC236}">
                <a16:creationId xmlns:a16="http://schemas.microsoft.com/office/drawing/2014/main" id="{A63BE85B-6374-76D7-5E38-FC60C7AC7E8A}"/>
              </a:ext>
            </a:extLst>
          </p:cNvPr>
          <p:cNvGraphicFramePr>
            <a:graphicFrameLocks noGrp="1"/>
          </p:cNvGraphicFramePr>
          <p:nvPr>
            <p:extLst>
              <p:ext uri="{D42A27DB-BD31-4B8C-83A1-F6EECF244321}">
                <p14:modId xmlns:p14="http://schemas.microsoft.com/office/powerpoint/2010/main" val="570955702"/>
              </p:ext>
            </p:extLst>
          </p:nvPr>
        </p:nvGraphicFramePr>
        <p:xfrm>
          <a:off x="1854201" y="2084476"/>
          <a:ext cx="8127999" cy="2966683"/>
        </p:xfrm>
        <a:graphic>
          <a:graphicData uri="http://schemas.openxmlformats.org/drawingml/2006/table">
            <a:tbl>
              <a:tblPr firstRow="1" bandRow="1">
                <a:tableStyleId>{5940675A-B579-460E-94D1-54222C63F5DA}</a:tableStyleId>
              </a:tblPr>
              <a:tblGrid>
                <a:gridCol w="1625846">
                  <a:extLst>
                    <a:ext uri="{9D8B030D-6E8A-4147-A177-3AD203B41FA5}">
                      <a16:colId xmlns:a16="http://schemas.microsoft.com/office/drawing/2014/main" val="3821791271"/>
                    </a:ext>
                  </a:extLst>
                </a:gridCol>
                <a:gridCol w="3027285">
                  <a:extLst>
                    <a:ext uri="{9D8B030D-6E8A-4147-A177-3AD203B41FA5}">
                      <a16:colId xmlns:a16="http://schemas.microsoft.com/office/drawing/2014/main" val="3813364352"/>
                    </a:ext>
                  </a:extLst>
                </a:gridCol>
                <a:gridCol w="3474868">
                  <a:extLst>
                    <a:ext uri="{9D8B030D-6E8A-4147-A177-3AD203B41FA5}">
                      <a16:colId xmlns:a16="http://schemas.microsoft.com/office/drawing/2014/main" val="2182017130"/>
                    </a:ext>
                  </a:extLst>
                </a:gridCol>
              </a:tblGrid>
              <a:tr h="504601">
                <a:tc>
                  <a:txBody>
                    <a:bodyPr/>
                    <a:lstStyle/>
                    <a:p>
                      <a:pPr algn="ctr"/>
                      <a:r>
                        <a:rPr lang="en-IN" sz="1800" b="1" dirty="0">
                          <a:solidFill>
                            <a:schemeClr val="bg1">
                              <a:lumMod val="95000"/>
                            </a:schemeClr>
                          </a:solidFill>
                          <a:latin typeface="Times New Roman" panose="02020603050405020304" pitchFamily="18" charset="0"/>
                          <a:cs typeface="Times New Roman" panose="02020603050405020304" pitchFamily="18" charset="0"/>
                        </a:rPr>
                        <a:t>Sl. No.</a:t>
                      </a:r>
                      <a:endParaRPr lang="en-US" sz="1800" b="1" dirty="0">
                        <a:solidFill>
                          <a:schemeClr val="bg1">
                            <a:lumMod val="95000"/>
                          </a:schemeClr>
                        </a:solidFill>
                        <a:latin typeface="Times New Roman" panose="02020603050405020304" pitchFamily="18" charset="0"/>
                        <a:cs typeface="Times New Roman" panose="02020603050405020304" pitchFamily="18" charset="0"/>
                      </a:endParaRPr>
                    </a:p>
                  </a:txBody>
                  <a:tcPr/>
                </a:tc>
                <a:tc>
                  <a:txBody>
                    <a:bodyPr/>
                    <a:lstStyle/>
                    <a:p>
                      <a:pPr algn="ctr"/>
                      <a:r>
                        <a:rPr lang="en-IN" sz="1800" b="1" dirty="0">
                          <a:solidFill>
                            <a:schemeClr val="bg1">
                              <a:lumMod val="95000"/>
                            </a:schemeClr>
                          </a:solidFill>
                          <a:latin typeface="Times New Roman" panose="02020603050405020304" pitchFamily="18" charset="0"/>
                          <a:cs typeface="Times New Roman" panose="02020603050405020304" pitchFamily="18" charset="0"/>
                        </a:rPr>
                        <a:t>Reg. No.</a:t>
                      </a:r>
                      <a:endParaRPr lang="en-US" sz="1800" b="1" dirty="0">
                        <a:solidFill>
                          <a:schemeClr val="bg1">
                            <a:lumMod val="95000"/>
                          </a:schemeClr>
                        </a:solidFill>
                        <a:latin typeface="Times New Roman" panose="02020603050405020304" pitchFamily="18" charset="0"/>
                        <a:cs typeface="Times New Roman" panose="02020603050405020304" pitchFamily="18" charset="0"/>
                      </a:endParaRPr>
                    </a:p>
                  </a:txBody>
                  <a:tcPr/>
                </a:tc>
                <a:tc>
                  <a:txBody>
                    <a:bodyPr/>
                    <a:lstStyle/>
                    <a:p>
                      <a:pPr algn="ctr"/>
                      <a:r>
                        <a:rPr lang="en-IN" sz="1800" b="1" dirty="0">
                          <a:solidFill>
                            <a:schemeClr val="bg1">
                              <a:lumMod val="95000"/>
                            </a:schemeClr>
                          </a:solidFill>
                          <a:latin typeface="Times New Roman" panose="02020603050405020304" pitchFamily="18" charset="0"/>
                          <a:cs typeface="Times New Roman" panose="02020603050405020304" pitchFamily="18" charset="0"/>
                        </a:rPr>
                        <a:t>Name of the student</a:t>
                      </a:r>
                      <a:endParaRPr lang="en-US" sz="1800" b="1" dirty="0">
                        <a:solidFill>
                          <a:schemeClr val="bg1">
                            <a:lumMod val="9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0690979"/>
                  </a:ext>
                </a:extLst>
              </a:tr>
              <a:tr h="541842">
                <a:tc>
                  <a:txBody>
                    <a:bodyPr/>
                    <a:lstStyle/>
                    <a:p>
                      <a:pPr algn="ctr"/>
                      <a:r>
                        <a:rPr lang="en-US" sz="1800" b="1" dirty="0">
                          <a:solidFill>
                            <a:schemeClr val="bg1">
                              <a:lumMod val="95000"/>
                            </a:schemeClr>
                          </a:solidFill>
                          <a:latin typeface="Times New Roman" panose="02020603050405020304" pitchFamily="18" charset="0"/>
                          <a:cs typeface="Times New Roman" panose="02020603050405020304" pitchFamily="18" charset="0"/>
                        </a:rPr>
                        <a:t>1</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BL.EN.U4CSE22004</a:t>
                      </a:r>
                    </a:p>
                  </a:txBody>
                  <a:tcPr/>
                </a:tc>
                <a:tc>
                  <a:txBody>
                    <a:bodyPr/>
                    <a:lstStyle/>
                    <a:p>
                      <a:pPr marL="342900" marR="0" lvl="0" indent="-342900" algn="ctr" defTabSz="685800" rtl="0" eaLnBrk="1" fontAlgn="auto" latinLnBrk="0" hangingPunct="1">
                        <a:lnSpc>
                          <a:spcPct val="100000"/>
                        </a:lnSpc>
                        <a:spcBef>
                          <a:spcPts val="0"/>
                        </a:spcBef>
                        <a:spcAft>
                          <a:spcPts val="0"/>
                        </a:spcAft>
                        <a:buClrTx/>
                        <a:buSzTx/>
                        <a:buFontTx/>
                        <a:buAutoNum type="alphaUcPeriod"/>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Neeraja</a:t>
                      </a:r>
                    </a:p>
                  </a:txBody>
                  <a:tcPr/>
                </a:tc>
                <a:extLst>
                  <a:ext uri="{0D108BD9-81ED-4DB2-BD59-A6C34878D82A}">
                    <a16:rowId xmlns:a16="http://schemas.microsoft.com/office/drawing/2014/main" val="3500290598"/>
                  </a:ext>
                </a:extLst>
              </a:tr>
              <a:tr h="0">
                <a:tc>
                  <a:txBody>
                    <a:bodyPr/>
                    <a:lstStyle/>
                    <a:p>
                      <a:pPr algn="ctr"/>
                      <a:r>
                        <a:rPr lang="en-US" sz="1800" b="1" dirty="0">
                          <a:solidFill>
                            <a:schemeClr val="bg1">
                              <a:lumMod val="95000"/>
                            </a:schemeClr>
                          </a:solidFill>
                          <a:latin typeface="Times New Roman" panose="02020603050405020304" pitchFamily="18" charset="0"/>
                          <a:cs typeface="Times New Roman" panose="02020603050405020304" pitchFamily="18" charset="0"/>
                        </a:rPr>
                        <a:t>2</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BL.EN.U4CSE22014</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Ch. Mounika Begum</a:t>
                      </a:r>
                    </a:p>
                  </a:txBody>
                  <a:tcPr/>
                </a:tc>
                <a:extLst>
                  <a:ext uri="{0D108BD9-81ED-4DB2-BD59-A6C34878D82A}">
                    <a16:rowId xmlns:a16="http://schemas.microsoft.com/office/drawing/2014/main" val="1763218760"/>
                  </a:ext>
                </a:extLst>
              </a:tr>
              <a:tr h="370840">
                <a:tc>
                  <a:txBody>
                    <a:bodyPr/>
                    <a:lstStyle/>
                    <a:p>
                      <a:pPr algn="ctr"/>
                      <a:r>
                        <a:rPr lang="en-US" sz="1800" b="1" dirty="0">
                          <a:solidFill>
                            <a:schemeClr val="bg1">
                              <a:lumMod val="95000"/>
                            </a:schemeClr>
                          </a:solidFill>
                          <a:latin typeface="Times New Roman" panose="02020603050405020304" pitchFamily="18" charset="0"/>
                          <a:cs typeface="Times New Roman" panose="02020603050405020304" pitchFamily="18" charset="0"/>
                        </a:rPr>
                        <a:t>3</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BL.EN.U4CSE22030</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K. </a:t>
                      </a:r>
                      <a:r>
                        <a:rPr lang="en-US" sz="1800" b="1" dirty="0" err="1">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Vigneswara</a:t>
                      </a: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 Reddy</a:t>
                      </a:r>
                    </a:p>
                  </a:txBody>
                  <a:tcPr/>
                </a:tc>
                <a:extLst>
                  <a:ext uri="{0D108BD9-81ED-4DB2-BD59-A6C34878D82A}">
                    <a16:rowId xmlns:a16="http://schemas.microsoft.com/office/drawing/2014/main" val="735749463"/>
                  </a:ext>
                </a:extLst>
              </a:tr>
              <a:tr h="370840">
                <a:tc>
                  <a:txBody>
                    <a:bodyPr/>
                    <a:lstStyle/>
                    <a:p>
                      <a:pPr algn="ctr"/>
                      <a:r>
                        <a:rPr lang="en-US" sz="1800" b="1" dirty="0">
                          <a:solidFill>
                            <a:schemeClr val="bg1">
                              <a:lumMod val="95000"/>
                            </a:schemeClr>
                          </a:solidFill>
                          <a:latin typeface="Times New Roman" panose="02020603050405020304" pitchFamily="18" charset="0"/>
                          <a:cs typeface="Times New Roman" panose="02020603050405020304" pitchFamily="18" charset="0"/>
                        </a:rPr>
                        <a:t>4</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BL.EN.U4CSE22050</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R. Henry </a:t>
                      </a:r>
                      <a:r>
                        <a:rPr lang="en-US" sz="1800" b="1" dirty="0" err="1">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Koushal</a:t>
                      </a:r>
                      <a:endPar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endParaRPr>
                    </a:p>
                  </a:txBody>
                  <a:tcPr/>
                </a:tc>
                <a:extLst>
                  <a:ext uri="{0D108BD9-81ED-4DB2-BD59-A6C34878D82A}">
                    <a16:rowId xmlns:a16="http://schemas.microsoft.com/office/drawing/2014/main" val="2239897123"/>
                  </a:ext>
                </a:extLst>
              </a:tr>
            </a:tbl>
          </a:graphicData>
        </a:graphic>
      </p:graphicFrame>
      <p:sp>
        <p:nvSpPr>
          <p:cNvPr id="7" name="TextBox 6">
            <a:extLst>
              <a:ext uri="{FF2B5EF4-FFF2-40B4-BE49-F238E27FC236}">
                <a16:creationId xmlns:a16="http://schemas.microsoft.com/office/drawing/2014/main" id="{B32FDB7F-0943-BF4A-6B10-AE21E97F4289}"/>
              </a:ext>
            </a:extLst>
          </p:cNvPr>
          <p:cNvSpPr txBox="1"/>
          <p:nvPr/>
        </p:nvSpPr>
        <p:spPr>
          <a:xfrm>
            <a:off x="1854201" y="5394463"/>
            <a:ext cx="3403600" cy="707886"/>
          </a:xfrm>
          <a:prstGeom prst="rect">
            <a:avLst/>
          </a:prstGeom>
          <a:noFill/>
        </p:spPr>
        <p:txBody>
          <a:bodyPr wrap="square" rtlCol="0">
            <a:spAutoFit/>
          </a:bodyPr>
          <a:lstStyle/>
          <a:p>
            <a:r>
              <a:rPr lang="en-US" sz="2000" b="1" dirty="0">
                <a:solidFill>
                  <a:schemeClr val="bg1"/>
                </a:solidFill>
              </a:rPr>
              <a:t>Faculty: </a:t>
            </a:r>
            <a:r>
              <a:rPr lang="en-IN" sz="2000" b="1" dirty="0">
                <a:solidFill>
                  <a:schemeClr val="bg1"/>
                </a:solidFill>
              </a:rPr>
              <a:t>Dr. Nalini Sampath</a:t>
            </a:r>
          </a:p>
          <a:p>
            <a:endParaRPr lang="en-IN" sz="2000" dirty="0">
              <a:solidFill>
                <a:schemeClr val="bg1"/>
              </a:solidFill>
            </a:endParaRPr>
          </a:p>
        </p:txBody>
      </p:sp>
    </p:spTree>
    <p:extLst>
      <p:ext uri="{BB962C8B-B14F-4D97-AF65-F5344CB8AC3E}">
        <p14:creationId xmlns:p14="http://schemas.microsoft.com/office/powerpoint/2010/main" val="412334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1" y="682825"/>
            <a:ext cx="8577617" cy="316081"/>
          </a:xfrm>
        </p:spPr>
        <p:txBody>
          <a:bodyPr/>
          <a:lstStyle/>
          <a:p>
            <a:pPr algn="ctr"/>
            <a:r>
              <a:rPr lang="en-US" sz="4000" dirty="0">
                <a:solidFill>
                  <a:srgbClr val="FF0000"/>
                </a:solidFill>
                <a:cs typeface="Times New Roman" panose="02020603050405020304" pitchFamily="18" charset="0"/>
              </a:rPr>
              <a:t>Introduction</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26D761D6-0585-8300-DEB7-EDBA2A1DAFDB}"/>
              </a:ext>
            </a:extLst>
          </p:cNvPr>
          <p:cNvSpPr txBox="1"/>
          <p:nvPr/>
        </p:nvSpPr>
        <p:spPr>
          <a:xfrm>
            <a:off x="1227390" y="1905506"/>
            <a:ext cx="9737220" cy="2800767"/>
          </a:xfrm>
          <a:prstGeom prst="rect">
            <a:avLst/>
          </a:prstGeom>
          <a:noFill/>
        </p:spPr>
        <p:txBody>
          <a:bodyPr wrap="square" rtlCol="0">
            <a:spAutoFit/>
          </a:bodyPr>
          <a:lstStyle/>
          <a:p>
            <a:pPr algn="just"/>
            <a:r>
              <a:rPr lang="en-US" sz="2200" dirty="0"/>
              <a:t>Urban traffic congestion presents a persistent challenge in modern cities, affecting mobility, travel time, and overall transportation efficiency. Traditional static analytical approaches are unable to capture the rapidly evolving dynamics of traffic flow. With the availability of high-frequency, GPS-enabled taxi trip data, it is now possible to analyze and predict congestion conditions in real time. This project develops a fully leakage-free, streaming congestion prediction system using NYC Yellow Taxi data, integrating spatial tiling, temporal windowing, and machine learning models designed for real-time operation.</a:t>
            </a:r>
            <a:endParaRPr lang="en-IN" sz="2200" dirty="0"/>
          </a:p>
        </p:txBody>
      </p:sp>
    </p:spTree>
    <p:extLst>
      <p:ext uri="{BB962C8B-B14F-4D97-AF65-F5344CB8AC3E}">
        <p14:creationId xmlns:p14="http://schemas.microsoft.com/office/powerpoint/2010/main" val="2916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1" y="703145"/>
            <a:ext cx="8577617" cy="316081"/>
          </a:xfrm>
        </p:spPr>
        <p:txBody>
          <a:bodyPr/>
          <a:lstStyle/>
          <a:p>
            <a:pPr algn="ctr"/>
            <a:r>
              <a:rPr lang="en-US" sz="4000" dirty="0">
                <a:solidFill>
                  <a:srgbClr val="FF0000"/>
                </a:solidFill>
                <a:cs typeface="Times New Roman" panose="02020603050405020304" pitchFamily="18" charset="0"/>
              </a:rPr>
              <a:t>Problem Statement</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3</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1980355D-FA2C-E864-572F-03EBE4F0C653}"/>
              </a:ext>
            </a:extLst>
          </p:cNvPr>
          <p:cNvSpPr txBox="1"/>
          <p:nvPr/>
        </p:nvSpPr>
        <p:spPr>
          <a:xfrm>
            <a:off x="1376678" y="2143760"/>
            <a:ext cx="9804400" cy="2123658"/>
          </a:xfrm>
          <a:prstGeom prst="rect">
            <a:avLst/>
          </a:prstGeom>
          <a:noFill/>
        </p:spPr>
        <p:txBody>
          <a:bodyPr wrap="square" rtlCol="0">
            <a:spAutoFit/>
          </a:bodyPr>
          <a:lstStyle/>
          <a:p>
            <a:pPr algn="just"/>
            <a:r>
              <a:rPr lang="en-US" sz="2200" dirty="0"/>
              <a:t>Urban traffic conditions change rapidly, making real-time congestion forecasting difficult for traditional models that rely only on historical averages. This project addresses the challenge of converting continuous taxi trip streams into spatial–temporal windows and designing strictly causal, leakage-free features for prediction. The goal is to accurately forecast congestion in each grid tile for the next time window using only past traffic information.</a:t>
            </a:r>
            <a:endParaRPr lang="en-IN" sz="2200" dirty="0"/>
          </a:p>
        </p:txBody>
      </p:sp>
    </p:spTree>
    <p:extLst>
      <p:ext uri="{BB962C8B-B14F-4D97-AF65-F5344CB8AC3E}">
        <p14:creationId xmlns:p14="http://schemas.microsoft.com/office/powerpoint/2010/main" val="3500239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AFB3-30AC-F7E2-C57A-ED30BFD46A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BA1E3A-05BB-19D6-0780-68A5BF659EA4}"/>
              </a:ext>
            </a:extLst>
          </p:cNvPr>
          <p:cNvSpPr>
            <a:spLocks noGrp="1"/>
          </p:cNvSpPr>
          <p:nvPr>
            <p:ph type="title"/>
          </p:nvPr>
        </p:nvSpPr>
        <p:spPr>
          <a:xfrm>
            <a:off x="1807191" y="632025"/>
            <a:ext cx="8577617" cy="316081"/>
          </a:xfrm>
        </p:spPr>
        <p:txBody>
          <a:bodyPr/>
          <a:lstStyle/>
          <a:p>
            <a:pPr algn="ctr"/>
            <a:r>
              <a:rPr lang="en-US" sz="4000" dirty="0">
                <a:solidFill>
                  <a:srgbClr val="FF0000"/>
                </a:solidFill>
                <a:cs typeface="Times New Roman" panose="02020603050405020304" pitchFamily="18" charset="0"/>
              </a:rPr>
              <a:t>Objectives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CC45B607-6FBA-4491-BBB8-6F14EF35A8A0}"/>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4</a:t>
            </a:fld>
            <a:endParaRPr lang="en-US" kern="1200">
              <a:solidFill>
                <a:prstClr val="white"/>
              </a:solidFill>
              <a:latin typeface="Calibri"/>
              <a:ea typeface="+mn-ea"/>
              <a:cs typeface="+mn-cs"/>
            </a:endParaRPr>
          </a:p>
        </p:txBody>
      </p:sp>
      <p:sp>
        <p:nvSpPr>
          <p:cNvPr id="10" name="Rectangle 6">
            <a:extLst>
              <a:ext uri="{FF2B5EF4-FFF2-40B4-BE49-F238E27FC236}">
                <a16:creationId xmlns:a16="http://schemas.microsoft.com/office/drawing/2014/main" id="{FBBABEB5-F622-02C9-D748-FF0C7AA7273A}"/>
              </a:ext>
            </a:extLst>
          </p:cNvPr>
          <p:cNvSpPr>
            <a:spLocks noChangeArrowheads="1"/>
          </p:cNvSpPr>
          <p:nvPr/>
        </p:nvSpPr>
        <p:spPr bwMode="auto">
          <a:xfrm>
            <a:off x="1969750" y="1635817"/>
            <a:ext cx="7438255" cy="358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spatial grid tiles from taxi GPS coordinates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Segment trip data into fixed time windows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leakage-free temporal features (lag, EWMA, history)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adaptive congestion labels using percentile thresholds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and compare multiple ML models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a real-time streaming prediction pipeline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model performance window-by-window</a:t>
            </a:r>
          </a:p>
        </p:txBody>
      </p:sp>
    </p:spTree>
    <p:extLst>
      <p:ext uri="{BB962C8B-B14F-4D97-AF65-F5344CB8AC3E}">
        <p14:creationId xmlns:p14="http://schemas.microsoft.com/office/powerpoint/2010/main" val="3192617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725910" y="319479"/>
            <a:ext cx="8577617" cy="316081"/>
          </a:xfrm>
        </p:spPr>
        <p:txBody>
          <a:bodyPr/>
          <a:lstStyle/>
          <a:p>
            <a:pPr algn="ctr"/>
            <a:r>
              <a:rPr lang="en-US" sz="4000" dirty="0">
                <a:solidFill>
                  <a:srgbClr val="FF0000"/>
                </a:solidFill>
                <a:cs typeface="Times New Roman" panose="02020603050405020304" pitchFamily="18" charset="0"/>
              </a:rPr>
              <a:t>Literature Survey</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5</a:t>
            </a:fld>
            <a:endParaRPr lang="en-US" kern="1200">
              <a:solidFill>
                <a:prstClr val="white"/>
              </a:solidFill>
              <a:latin typeface="Calibri"/>
              <a:ea typeface="+mn-ea"/>
              <a:cs typeface="+mn-cs"/>
            </a:endParaRPr>
          </a:p>
        </p:txBody>
      </p:sp>
      <p:graphicFrame>
        <p:nvGraphicFramePr>
          <p:cNvPr id="8" name="Table 2">
            <a:extLst>
              <a:ext uri="{FF2B5EF4-FFF2-40B4-BE49-F238E27FC236}">
                <a16:creationId xmlns:a16="http://schemas.microsoft.com/office/drawing/2014/main" id="{8A48D845-A724-5505-60C5-936C5F696060}"/>
              </a:ext>
            </a:extLst>
          </p:cNvPr>
          <p:cNvGraphicFramePr>
            <a:graphicFrameLocks noGrp="1"/>
          </p:cNvGraphicFramePr>
          <p:nvPr>
            <p:extLst>
              <p:ext uri="{D42A27DB-BD31-4B8C-83A1-F6EECF244321}">
                <p14:modId xmlns:p14="http://schemas.microsoft.com/office/powerpoint/2010/main" val="456933324"/>
              </p:ext>
            </p:extLst>
          </p:nvPr>
        </p:nvGraphicFramePr>
        <p:xfrm>
          <a:off x="345440" y="833120"/>
          <a:ext cx="11501119" cy="5547360"/>
        </p:xfrm>
        <a:graphic>
          <a:graphicData uri="http://schemas.openxmlformats.org/drawingml/2006/table">
            <a:tbl>
              <a:tblPr firstRow="1" bandRow="1">
                <a:tableStyleId>{EEE7283C-3CF3-47DC-8721-378D4A62B228}</a:tableStyleId>
              </a:tblPr>
              <a:tblGrid>
                <a:gridCol w="398264">
                  <a:extLst>
                    <a:ext uri="{9D8B030D-6E8A-4147-A177-3AD203B41FA5}">
                      <a16:colId xmlns:a16="http://schemas.microsoft.com/office/drawing/2014/main" val="739043522"/>
                    </a:ext>
                  </a:extLst>
                </a:gridCol>
                <a:gridCol w="1065287">
                  <a:extLst>
                    <a:ext uri="{9D8B030D-6E8A-4147-A177-3AD203B41FA5}">
                      <a16:colId xmlns:a16="http://schemas.microsoft.com/office/drawing/2014/main" val="2216152480"/>
                    </a:ext>
                  </a:extLst>
                </a:gridCol>
                <a:gridCol w="2335012">
                  <a:extLst>
                    <a:ext uri="{9D8B030D-6E8A-4147-A177-3AD203B41FA5}">
                      <a16:colId xmlns:a16="http://schemas.microsoft.com/office/drawing/2014/main" val="2141654083"/>
                    </a:ext>
                  </a:extLst>
                </a:gridCol>
                <a:gridCol w="7702556">
                  <a:extLst>
                    <a:ext uri="{9D8B030D-6E8A-4147-A177-3AD203B41FA5}">
                      <a16:colId xmlns:a16="http://schemas.microsoft.com/office/drawing/2014/main" val="901742814"/>
                    </a:ext>
                  </a:extLst>
                </a:gridCol>
              </a:tblGrid>
              <a:tr h="521084">
                <a:tc>
                  <a:txBody>
                    <a:bodyPr/>
                    <a:lstStyle/>
                    <a:p>
                      <a:pPr algn="ctr"/>
                      <a:r>
                        <a:rPr lang="en-US" sz="1200" dirty="0" err="1">
                          <a:latin typeface="Times New Roman" panose="02020603050405020304" pitchFamily="18" charset="0"/>
                          <a:cs typeface="Times New Roman" panose="02020603050405020304" pitchFamily="18" charset="0"/>
                        </a:rPr>
                        <a:t>Sl.No</a:t>
                      </a:r>
                      <a:r>
                        <a:rPr lang="en-US" sz="1200" dirty="0">
                          <a:latin typeface="Times New Roman" panose="02020603050405020304" pitchFamily="18" charset="0"/>
                          <a:cs typeface="Times New Roman" panose="02020603050405020304" pitchFamily="18" charset="0"/>
                        </a:rPr>
                        <a:t>.</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AUTHORS</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PAPER</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INFERENCE</a:t>
                      </a:r>
                    </a:p>
                  </a:txBody>
                  <a:tcPr>
                    <a:solidFill>
                      <a:srgbClr val="AA022A"/>
                    </a:solidFill>
                  </a:tcPr>
                </a:tc>
                <a:extLst>
                  <a:ext uri="{0D108BD9-81ED-4DB2-BD59-A6C34878D82A}">
                    <a16:rowId xmlns:a16="http://schemas.microsoft.com/office/drawing/2014/main" val="4026048611"/>
                  </a:ext>
                </a:extLst>
              </a:tr>
              <a:tr h="1461427">
                <a:tc>
                  <a:txBody>
                    <a:bodyPr/>
                    <a:lstStyle/>
                    <a:p>
                      <a:pPr algn="l"/>
                      <a:r>
                        <a:rPr lang="en-US" sz="1600" b="0" dirty="0">
                          <a:latin typeface="Times New Roman" panose="02020603050405020304" pitchFamily="18" charset="0"/>
                          <a:cs typeface="Times New Roman" panose="02020603050405020304" pitchFamily="18" charset="0"/>
                        </a:rPr>
                        <a:t>1</a:t>
                      </a:r>
                    </a:p>
                  </a:txBody>
                  <a:tcPr/>
                </a:tc>
                <a:tc>
                  <a:txBody>
                    <a:bodyPr/>
                    <a:lstStyle/>
                    <a:p>
                      <a:r>
                        <a:rPr lang="en-IN" sz="1600" dirty="0">
                          <a:latin typeface="Times New Roman" panose="02020603050405020304" pitchFamily="18" charset="0"/>
                          <a:cs typeface="Times New Roman" panose="02020603050405020304" pitchFamily="18" charset="0"/>
                        </a:rPr>
                        <a:t>Dai &amp; Ye (2024)</a:t>
                      </a:r>
                      <a:endParaRPr lang="en-US" sz="1600" b="1"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600" dirty="0"/>
                        <a:t>Hybrid Time-Varying Graph Neural Network (HTVGNN)</a:t>
                      </a:r>
                      <a:endParaRPr lang="en-US" sz="1600" b="0" dirty="0">
                        <a:solidFill>
                          <a:srgbClr val="FF0000"/>
                        </a:solidFill>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0" dirty="0">
                        <a:latin typeface="Times New Roman" panose="02020603050405020304" pitchFamily="18" charset="0"/>
                        <a:cs typeface="Times New Roman" panose="02020603050405020304" pitchFamily="18" charset="0"/>
                      </a:endParaRPr>
                    </a:p>
                    <a:p>
                      <a:pPr algn="just"/>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US" sz="1600" dirty="0"/>
                        <a:t>Proposes HTVGNN with a time-aware multi-attention mechanism and hybrid static + </a:t>
                      </a:r>
                      <a:r>
                        <a:rPr lang="en-US" sz="1600" dirty="0" err="1"/>
                        <a:t>dynamicgraph</a:t>
                      </a:r>
                      <a:r>
                        <a:rPr lang="en-US" sz="1600" dirty="0"/>
                        <a:t> learning.</a:t>
                      </a:r>
                    </a:p>
                    <a:p>
                      <a:pPr marL="285750" indent="-285750" algn="just">
                        <a:buFont typeface="Arial" panose="020B0604020202020204" pitchFamily="34" charset="0"/>
                        <a:buChar char="•"/>
                      </a:pPr>
                      <a:r>
                        <a:rPr lang="en-US" sz="1600" dirty="0"/>
                        <a:t>Achieves higher accuracy than latest </a:t>
                      </a:r>
                      <a:r>
                        <a:rPr lang="en-US" sz="1600" dirty="0" err="1"/>
                        <a:t>spatio</a:t>
                      </a:r>
                      <a:r>
                        <a:rPr lang="en-US" sz="1600" dirty="0"/>
                        <a:t>-temporal GNNs on four real datasets (best long-term prediction performance).</a:t>
                      </a:r>
                    </a:p>
                    <a:p>
                      <a:pPr marL="285750" indent="-285750" algn="just">
                        <a:buFont typeface="Arial" panose="020B0604020202020204" pitchFamily="34" charset="0"/>
                        <a:buChar char="•"/>
                      </a:pPr>
                      <a:r>
                        <a:rPr lang="en-US" sz="1600" dirty="0"/>
                        <a:t> Limitation: Model complexity is high; requires large computational resources for dynamic graph learning.</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4041938"/>
                  </a:ext>
                </a:extLst>
              </a:tr>
              <a:tr h="1461427">
                <a:tc>
                  <a:txBody>
                    <a:bodyPr/>
                    <a:lstStyle/>
                    <a:p>
                      <a:pPr algn="l"/>
                      <a:r>
                        <a:rPr lang="en-US" sz="1600" b="0" dirty="0">
                          <a:latin typeface="Times New Roman" panose="02020603050405020304" pitchFamily="18" charset="0"/>
                          <a:cs typeface="Times New Roman" panose="02020603050405020304" pitchFamily="18" charset="0"/>
                        </a:rPr>
                        <a:t>2</a:t>
                      </a:r>
                    </a:p>
                  </a:txBody>
                  <a:tcPr/>
                </a:tc>
                <a:tc>
                  <a:txBody>
                    <a:bodyPr/>
                    <a:lstStyle/>
                    <a:p>
                      <a:r>
                        <a:rPr lang="en-IN" sz="1600" dirty="0">
                          <a:latin typeface="Times New Roman" panose="02020603050405020304" pitchFamily="18" charset="0"/>
                          <a:cs typeface="Times New Roman" panose="02020603050405020304" pitchFamily="18" charset="0"/>
                        </a:rPr>
                        <a:t>Francies et al. (2025)</a:t>
                      </a:r>
                      <a:endParaRPr lang="en-US" sz="1600" b="1" dirty="0">
                        <a:latin typeface="Times New Roman" panose="02020603050405020304" pitchFamily="18" charset="0"/>
                        <a:cs typeface="Times New Roman" panose="02020603050405020304" pitchFamily="18" charset="0"/>
                      </a:endParaRPr>
                    </a:p>
                  </a:txBody>
                  <a:tcPr/>
                </a:tc>
                <a:tc>
                  <a:txBody>
                    <a:bodyPr/>
                    <a:lstStyle/>
                    <a:p>
                      <a:pPr algn="just"/>
                      <a:r>
                        <a:rPr lang="en-IN" sz="1600" dirty="0"/>
                        <a:t>Continual Learning STGNN-CL</a:t>
                      </a:r>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600" dirty="0"/>
                        <a:t>Introduces a continual-learning STGNN using EWC, MAS, SI and KLD-based traffic pattern fusion for real-time forecasting.</a:t>
                      </a:r>
                    </a:p>
                    <a:p>
                      <a:pPr marL="285750" indent="-285750" algn="just">
                        <a:buFont typeface="Arial" panose="020B0604020202020204" pitchFamily="34" charset="0"/>
                        <a:buChar char="•"/>
                      </a:pPr>
                      <a:r>
                        <a:rPr lang="en-IN" sz="1600" dirty="0"/>
                        <a:t>Shows significant error reduction across </a:t>
                      </a:r>
                      <a:r>
                        <a:rPr lang="en-IN" sz="1600" dirty="0" err="1"/>
                        <a:t>PeMS</a:t>
                      </a:r>
                      <a:r>
                        <a:rPr lang="en-IN" sz="1600" dirty="0"/>
                        <a:t> datasets; improved long-term prediction stability vs baseline STGNN models.</a:t>
                      </a:r>
                    </a:p>
                    <a:p>
                      <a:pPr marL="285750" indent="-285750" algn="just">
                        <a:buFont typeface="Arial" panose="020B0604020202020204" pitchFamily="34" charset="0"/>
                        <a:buChar char="•"/>
                      </a:pPr>
                      <a:r>
                        <a:rPr lang="en-IN" sz="1600" dirty="0"/>
                        <a:t>Limitation: Continual learning requires repeated model updates, increasing training overhead and memory demand.</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840321"/>
                  </a:ext>
                </a:extLst>
              </a:tr>
              <a:tr h="1622069">
                <a:tc>
                  <a:txBody>
                    <a:bodyPr/>
                    <a:lstStyle/>
                    <a:p>
                      <a:pPr algn="l"/>
                      <a:r>
                        <a:rPr lang="en-US" sz="1600" b="0" dirty="0">
                          <a:latin typeface="Times New Roman" panose="02020603050405020304" pitchFamily="18" charset="0"/>
                          <a:cs typeface="Times New Roman" panose="02020603050405020304" pitchFamily="18" charset="0"/>
                        </a:rPr>
                        <a:t>3</a:t>
                      </a:r>
                    </a:p>
                  </a:txBody>
                  <a:tcPr/>
                </a:tc>
                <a:tc>
                  <a:txBody>
                    <a:bodyPr/>
                    <a:lstStyle/>
                    <a:p>
                      <a:r>
                        <a:rPr lang="en-IN" sz="1600" b="0" dirty="0">
                          <a:latin typeface="Times New Roman" panose="02020603050405020304" pitchFamily="18" charset="0"/>
                          <a:cs typeface="Times New Roman" panose="02020603050405020304" pitchFamily="18" charset="0"/>
                        </a:rPr>
                        <a:t>Abbas et al. (KTH)</a:t>
                      </a:r>
                    </a:p>
                    <a:p>
                      <a:r>
                        <a:rPr lang="en-IN" sz="1600" b="0" dirty="0">
                          <a:latin typeface="Times New Roman" panose="02020603050405020304" pitchFamily="18" charset="0"/>
                          <a:cs typeface="Times New Roman" panose="02020603050405020304" pitchFamily="18" charset="0"/>
                        </a:rPr>
                        <a:t>(2023</a:t>
                      </a:r>
                      <a:r>
                        <a:rPr lang="en-IN" sz="1600" dirty="0">
                          <a:latin typeface="Times New Roman" panose="02020603050405020304" pitchFamily="18" charset="0"/>
                          <a:cs typeface="Times New Roman" panose="02020603050405020304" pitchFamily="18" charset="0"/>
                        </a:rPr>
                        <a:t> )</a:t>
                      </a: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IN" sz="1600" b="0" dirty="0"/>
                        <a:t>Streaming Graph Algorithms for Congestion Detection</a:t>
                      </a:r>
                    </a:p>
                    <a:p>
                      <a:pPr algn="just"/>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Uses streaming Connected Components and community detection algorithms for real-time congestion detection on sensor graphs.</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Achieves up to </a:t>
                      </a:r>
                      <a:r>
                        <a:rPr lang="en-IN" sz="1600" b="1" dirty="0"/>
                        <a:t>≈94% accuracy</a:t>
                      </a:r>
                      <a:r>
                        <a:rPr lang="en-IN" sz="1600" dirty="0"/>
                        <a:t> using Connected Components and ≈88% using </a:t>
                      </a:r>
                      <a:r>
                        <a:rPr lang="en-IN" sz="1600" dirty="0" err="1"/>
                        <a:t>DenGraph</a:t>
                      </a:r>
                      <a:r>
                        <a:rPr lang="en-IN" sz="1600" dirty="0"/>
                        <a:t> on Stockholm highway data.</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Limitation: Fails on sparse or irregular road networks (e.g., Louvain Modularity algorithm performs poorly).</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1437940"/>
                  </a:ext>
                </a:extLst>
              </a:tr>
            </a:tbl>
          </a:graphicData>
        </a:graphic>
      </p:graphicFrame>
    </p:spTree>
    <p:extLst>
      <p:ext uri="{BB962C8B-B14F-4D97-AF65-F5344CB8AC3E}">
        <p14:creationId xmlns:p14="http://schemas.microsoft.com/office/powerpoint/2010/main" val="3829546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DE2B9-34B6-F2F0-27F4-397DEB1F1F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079AAE-DB1A-180D-79DF-9BCCF1FD8D25}"/>
              </a:ext>
            </a:extLst>
          </p:cNvPr>
          <p:cNvSpPr>
            <a:spLocks noGrp="1"/>
          </p:cNvSpPr>
          <p:nvPr>
            <p:ph type="title"/>
          </p:nvPr>
        </p:nvSpPr>
        <p:spPr>
          <a:xfrm>
            <a:off x="1725910" y="319479"/>
            <a:ext cx="8577617" cy="316081"/>
          </a:xfrm>
        </p:spPr>
        <p:txBody>
          <a:bodyPr/>
          <a:lstStyle/>
          <a:p>
            <a:pPr algn="ctr"/>
            <a:r>
              <a:rPr lang="en-US" sz="4000" dirty="0">
                <a:solidFill>
                  <a:srgbClr val="FF0000"/>
                </a:solidFill>
                <a:cs typeface="Times New Roman" panose="02020603050405020304" pitchFamily="18" charset="0"/>
              </a:rPr>
              <a:t>Literature Survey</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F734F530-83C5-4B09-DCD0-7878BAA839F6}"/>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6</a:t>
            </a:fld>
            <a:endParaRPr lang="en-US" kern="1200">
              <a:solidFill>
                <a:prstClr val="white"/>
              </a:solidFill>
              <a:latin typeface="Calibri"/>
              <a:ea typeface="+mn-ea"/>
              <a:cs typeface="+mn-cs"/>
            </a:endParaRPr>
          </a:p>
        </p:txBody>
      </p:sp>
      <p:graphicFrame>
        <p:nvGraphicFramePr>
          <p:cNvPr id="8" name="Table 2">
            <a:extLst>
              <a:ext uri="{FF2B5EF4-FFF2-40B4-BE49-F238E27FC236}">
                <a16:creationId xmlns:a16="http://schemas.microsoft.com/office/drawing/2014/main" id="{109DA019-6E45-B813-2442-005A550D7BEF}"/>
              </a:ext>
            </a:extLst>
          </p:cNvPr>
          <p:cNvGraphicFramePr>
            <a:graphicFrameLocks noGrp="1"/>
          </p:cNvGraphicFramePr>
          <p:nvPr>
            <p:extLst>
              <p:ext uri="{D42A27DB-BD31-4B8C-83A1-F6EECF244321}">
                <p14:modId xmlns:p14="http://schemas.microsoft.com/office/powerpoint/2010/main" val="301698043"/>
              </p:ext>
            </p:extLst>
          </p:nvPr>
        </p:nvGraphicFramePr>
        <p:xfrm>
          <a:off x="345440" y="894080"/>
          <a:ext cx="11501119" cy="5455920"/>
        </p:xfrm>
        <a:graphic>
          <a:graphicData uri="http://schemas.openxmlformats.org/drawingml/2006/table">
            <a:tbl>
              <a:tblPr firstRow="1" bandRow="1">
                <a:tableStyleId>{EEE7283C-3CF3-47DC-8721-378D4A62B228}</a:tableStyleId>
              </a:tblPr>
              <a:tblGrid>
                <a:gridCol w="398264">
                  <a:extLst>
                    <a:ext uri="{9D8B030D-6E8A-4147-A177-3AD203B41FA5}">
                      <a16:colId xmlns:a16="http://schemas.microsoft.com/office/drawing/2014/main" val="739043522"/>
                    </a:ext>
                  </a:extLst>
                </a:gridCol>
                <a:gridCol w="1065287">
                  <a:extLst>
                    <a:ext uri="{9D8B030D-6E8A-4147-A177-3AD203B41FA5}">
                      <a16:colId xmlns:a16="http://schemas.microsoft.com/office/drawing/2014/main" val="2216152480"/>
                    </a:ext>
                  </a:extLst>
                </a:gridCol>
                <a:gridCol w="2335012">
                  <a:extLst>
                    <a:ext uri="{9D8B030D-6E8A-4147-A177-3AD203B41FA5}">
                      <a16:colId xmlns:a16="http://schemas.microsoft.com/office/drawing/2014/main" val="2141654083"/>
                    </a:ext>
                  </a:extLst>
                </a:gridCol>
                <a:gridCol w="7702556">
                  <a:extLst>
                    <a:ext uri="{9D8B030D-6E8A-4147-A177-3AD203B41FA5}">
                      <a16:colId xmlns:a16="http://schemas.microsoft.com/office/drawing/2014/main" val="901742814"/>
                    </a:ext>
                  </a:extLst>
                </a:gridCol>
              </a:tblGrid>
              <a:tr h="521084">
                <a:tc>
                  <a:txBody>
                    <a:bodyPr/>
                    <a:lstStyle/>
                    <a:p>
                      <a:pPr algn="ctr"/>
                      <a:r>
                        <a:rPr lang="en-US" sz="1200" dirty="0" err="1">
                          <a:latin typeface="Times New Roman" panose="02020603050405020304" pitchFamily="18" charset="0"/>
                          <a:cs typeface="Times New Roman" panose="02020603050405020304" pitchFamily="18" charset="0"/>
                        </a:rPr>
                        <a:t>Sl.No</a:t>
                      </a:r>
                      <a:r>
                        <a:rPr lang="en-US" sz="1200" dirty="0">
                          <a:latin typeface="Times New Roman" panose="02020603050405020304" pitchFamily="18" charset="0"/>
                          <a:cs typeface="Times New Roman" panose="02020603050405020304" pitchFamily="18" charset="0"/>
                        </a:rPr>
                        <a:t>.</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AUTHORS</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PAPER</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INFERENCE</a:t>
                      </a:r>
                    </a:p>
                  </a:txBody>
                  <a:tcPr>
                    <a:solidFill>
                      <a:srgbClr val="AA022A"/>
                    </a:solidFill>
                  </a:tcPr>
                </a:tc>
                <a:extLst>
                  <a:ext uri="{0D108BD9-81ED-4DB2-BD59-A6C34878D82A}">
                    <a16:rowId xmlns:a16="http://schemas.microsoft.com/office/drawing/2014/main" val="4026048611"/>
                  </a:ext>
                </a:extLst>
              </a:tr>
              <a:tr h="1146467">
                <a:tc>
                  <a:txBody>
                    <a:bodyPr/>
                    <a:lstStyle/>
                    <a:p>
                      <a:pPr algn="l"/>
                      <a:r>
                        <a:rPr lang="en-US" sz="1600" b="0" dirty="0">
                          <a:latin typeface="Times New Roman" panose="02020603050405020304" pitchFamily="18" charset="0"/>
                          <a:cs typeface="Times New Roman" panose="02020603050405020304" pitchFamily="18" charset="0"/>
                        </a:rPr>
                        <a:t>4</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Tran et al.</a:t>
                      </a:r>
                      <a:br>
                        <a:rPr lang="en-IN" sz="1600" dirty="0">
                          <a:latin typeface="Times New Roman" panose="02020603050405020304" pitchFamily="18" charset="0"/>
                          <a:cs typeface="Times New Roman" panose="02020603050405020304" pitchFamily="18" charset="0"/>
                        </a:rPr>
                      </a:br>
                      <a:r>
                        <a:rPr lang="en-IN" sz="1600" b="0" dirty="0">
                          <a:latin typeface="Times New Roman" panose="02020603050405020304" pitchFamily="18" charset="0"/>
                          <a:cs typeface="Times New Roman" panose="02020603050405020304" pitchFamily="18" charset="0"/>
                        </a:rPr>
                        <a:t>(2023</a:t>
                      </a:r>
                      <a:r>
                        <a:rPr lang="en-IN" sz="1600" dirty="0">
                          <a:latin typeface="Times New Roman" panose="02020603050405020304" pitchFamily="18" charset="0"/>
                          <a:cs typeface="Times New Roman" panose="02020603050405020304" pitchFamily="18" charset="0"/>
                        </a:rPr>
                        <a:t> )</a:t>
                      </a:r>
                      <a:endParaRPr lang="en-US" sz="1600" b="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IN" sz="1600" dirty="0"/>
                        <a:t>Multi-Structured GNN (MSGNN) for Incident Prediction</a:t>
                      </a:r>
                      <a:endParaRPr lang="en-US" sz="1600" b="1" dirty="0">
                        <a:latin typeface="Times New Roman" panose="02020603050405020304" pitchFamily="18" charset="0"/>
                        <a:cs typeface="Times New Roman" panose="02020603050405020304" pitchFamily="18" charset="0"/>
                      </a:endParaRPr>
                    </a:p>
                    <a:p>
                      <a:pPr algn="just"/>
                      <a:endParaRPr lang="en-US" sz="1600" b="0" dirty="0">
                        <a:latin typeface="Times New Roman" panose="02020603050405020304" pitchFamily="18" charset="0"/>
                        <a:cs typeface="Times New Roman" panose="02020603050405020304" pitchFamily="18" charset="0"/>
                      </a:endParaRPr>
                    </a:p>
                    <a:p>
                      <a:pPr algn="just"/>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Proposes MSGNN that fuses multiple graph structures to predict traffic incidents across any sub-area using a single model.</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Outperforms classical ML and recent DL models across both 15-min and 60-min prediction horizons on two city networks.</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Limitation: Requires well-defined sub-area sampling; model performance depends heavily on accurate graph construction.</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4041938"/>
                  </a:ext>
                </a:extLst>
              </a:tr>
              <a:tr h="1461427">
                <a:tc>
                  <a:txBody>
                    <a:bodyPr/>
                    <a:lstStyle/>
                    <a:p>
                      <a:pPr algn="l"/>
                      <a:r>
                        <a:rPr lang="en-US" sz="1600" b="0" dirty="0">
                          <a:latin typeface="Times New Roman" panose="02020603050405020304" pitchFamily="18" charset="0"/>
                          <a:cs typeface="Times New Roman" panose="02020603050405020304" pitchFamily="18" charset="0"/>
                        </a:rPr>
                        <a:t>5</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600" dirty="0" err="1">
                          <a:latin typeface="Times New Roman" panose="02020603050405020304" pitchFamily="18" charset="0"/>
                          <a:cs typeface="Times New Roman" panose="02020603050405020304" pitchFamily="18" charset="0"/>
                        </a:rPr>
                        <a:t>Yuqian</a:t>
                      </a:r>
                      <a:r>
                        <a:rPr lang="en-IN" sz="1600" dirty="0">
                          <a:latin typeface="Times New Roman" panose="02020603050405020304" pitchFamily="18" charset="0"/>
                          <a:cs typeface="Times New Roman" panose="02020603050405020304" pitchFamily="18" charset="0"/>
                        </a:rPr>
                        <a:t> Wu.</a:t>
                      </a:r>
                      <a:br>
                        <a:rPr lang="en-IN" sz="1600" dirty="0">
                          <a:latin typeface="Times New Roman" panose="02020603050405020304" pitchFamily="18" charset="0"/>
                          <a:cs typeface="Times New Roman" panose="02020603050405020304" pitchFamily="18" charset="0"/>
                        </a:rPr>
                      </a:br>
                      <a:r>
                        <a:rPr lang="en-IN" sz="1600" b="0" dirty="0">
                          <a:latin typeface="Times New Roman" panose="02020603050405020304" pitchFamily="18" charset="0"/>
                          <a:cs typeface="Times New Roman" panose="02020603050405020304" pitchFamily="18" charset="0"/>
                        </a:rPr>
                        <a:t>(2023</a:t>
                      </a:r>
                      <a:r>
                        <a:rPr lang="en-IN" sz="1600" dirty="0">
                          <a:latin typeface="Times New Roman" panose="02020603050405020304" pitchFamily="18" charset="0"/>
                          <a:cs typeface="Times New Roman" panose="02020603050405020304" pitchFamily="18" charset="0"/>
                        </a:rPr>
                        <a:t> )</a:t>
                      </a:r>
                      <a:endParaRPr lang="en-US" sz="1600" b="0" dirty="0">
                        <a:latin typeface="Times New Roman" panose="02020603050405020304" pitchFamily="18" charset="0"/>
                        <a:cs typeface="Times New Roman" panose="020206030504050203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600" b="1" dirty="0">
                        <a:latin typeface="Times New Roman" panose="02020603050405020304" pitchFamily="18" charset="0"/>
                        <a:cs typeface="Times New Roman" panose="02020603050405020304" pitchFamily="18" charset="0"/>
                      </a:endParaRPr>
                    </a:p>
                  </a:txBody>
                  <a:tcPr/>
                </a:tc>
                <a:tc>
                  <a:txBody>
                    <a:bodyPr/>
                    <a:lstStyle/>
                    <a:p>
                      <a:pPr algn="just"/>
                      <a:r>
                        <a:rPr lang="en-US" sz="1600" dirty="0"/>
                        <a:t>Deep Learning with GCN + Attention + TCN</a:t>
                      </a:r>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600" dirty="0"/>
                        <a:t>Introduces </a:t>
                      </a:r>
                      <a:r>
                        <a:rPr lang="en-US" sz="1600" dirty="0"/>
                        <a:t>a dual-stage model combining GCN with attention for spatial learning and TCN with causal/dilated convolutions for temporal patterns.</a:t>
                      </a:r>
                    </a:p>
                    <a:p>
                      <a:pPr marL="285750" indent="-285750" algn="just">
                        <a:buFont typeface="Arial" panose="020B0604020202020204" pitchFamily="34" charset="0"/>
                        <a:buChar char="•"/>
                      </a:pPr>
                      <a:r>
                        <a:rPr lang="en-US" sz="1600" dirty="0"/>
                        <a:t>Demonstrates improved spatiotemporal feature extraction and higher prediction accuracy than traditional DL baselines.</a:t>
                      </a:r>
                    </a:p>
                    <a:p>
                      <a:pPr marL="285750" indent="-285750" algn="just">
                        <a:buFont typeface="Arial" panose="020B0604020202020204" pitchFamily="34" charset="0"/>
                        <a:buChar char="•"/>
                      </a:pPr>
                      <a:r>
                        <a:rPr lang="en-US" sz="1600" dirty="0"/>
                        <a:t>Limitation: Heavy dependence on dense sensor data; performance degrades with missing or noisy input.</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840321"/>
                  </a:ext>
                </a:extLst>
              </a:tr>
              <a:tr h="1463040">
                <a:tc>
                  <a:txBody>
                    <a:bodyPr/>
                    <a:lstStyle/>
                    <a:p>
                      <a:pPr algn="l"/>
                      <a:r>
                        <a:rPr lang="en-US" sz="1600" b="0" dirty="0">
                          <a:latin typeface="Times New Roman" panose="02020603050405020304" pitchFamily="18" charset="0"/>
                          <a:cs typeface="Times New Roman" panose="02020603050405020304" pitchFamily="18" charset="0"/>
                        </a:rPr>
                        <a:t>6</a:t>
                      </a:r>
                    </a:p>
                  </a:txBody>
                  <a:tcPr/>
                </a:tc>
                <a:tc>
                  <a:txBody>
                    <a:bodyPr/>
                    <a:lstStyle/>
                    <a:p>
                      <a:r>
                        <a:rPr lang="en-IN" sz="1600" dirty="0">
                          <a:latin typeface="Times New Roman" panose="02020603050405020304" pitchFamily="18" charset="0"/>
                          <a:cs typeface="Times New Roman" panose="02020603050405020304" pitchFamily="18" charset="0"/>
                        </a:rPr>
                        <a:t>Abbas et al. (2020 IEEE)</a:t>
                      </a: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600" dirty="0"/>
                        <a:t>Real-Time Traffic Jam Detection with Streaming Graph Analytics</a:t>
                      </a:r>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Presents a pure-streaming congestion detection framework using Apache Flink and weighted directed sensor graphs.</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Real-time traffic light control reduces travel time by </a:t>
                      </a:r>
                      <a:r>
                        <a:rPr lang="en-US" sz="1600" b="1" dirty="0"/>
                        <a:t>up to 27%</a:t>
                      </a:r>
                      <a:r>
                        <a:rPr lang="en-US" sz="1600" dirty="0"/>
                        <a:t> and 8% on average.</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Limitation: Framework depends on intersection sensors only; lacks integration of historical or GPS trajectory datasets.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1437940"/>
                  </a:ext>
                </a:extLst>
              </a:tr>
            </a:tbl>
          </a:graphicData>
        </a:graphic>
      </p:graphicFrame>
    </p:spTree>
    <p:extLst>
      <p:ext uri="{BB962C8B-B14F-4D97-AF65-F5344CB8AC3E}">
        <p14:creationId xmlns:p14="http://schemas.microsoft.com/office/powerpoint/2010/main" val="1867826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E029B-5017-7FAB-58F3-E3B0AC48A7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F15C3A-F871-2DCB-0E20-B0B22B5470DF}"/>
              </a:ext>
            </a:extLst>
          </p:cNvPr>
          <p:cNvSpPr>
            <a:spLocks noGrp="1"/>
          </p:cNvSpPr>
          <p:nvPr>
            <p:ph type="title"/>
          </p:nvPr>
        </p:nvSpPr>
        <p:spPr>
          <a:xfrm>
            <a:off x="1725910" y="319479"/>
            <a:ext cx="8577617" cy="316081"/>
          </a:xfrm>
        </p:spPr>
        <p:txBody>
          <a:bodyPr/>
          <a:lstStyle/>
          <a:p>
            <a:pPr algn="ctr"/>
            <a:r>
              <a:rPr lang="en-US" sz="4000" dirty="0">
                <a:solidFill>
                  <a:srgbClr val="FF0000"/>
                </a:solidFill>
                <a:cs typeface="Times New Roman" panose="02020603050405020304" pitchFamily="18" charset="0"/>
              </a:rPr>
              <a:t>Literature Survey</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0612EAED-2BA9-1AD4-40D5-E4AE95A040FB}"/>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7</a:t>
            </a:fld>
            <a:endParaRPr lang="en-US" kern="1200">
              <a:solidFill>
                <a:prstClr val="white"/>
              </a:solidFill>
              <a:latin typeface="Calibri"/>
              <a:ea typeface="+mn-ea"/>
              <a:cs typeface="+mn-cs"/>
            </a:endParaRPr>
          </a:p>
        </p:txBody>
      </p:sp>
      <p:graphicFrame>
        <p:nvGraphicFramePr>
          <p:cNvPr id="8" name="Table 2">
            <a:extLst>
              <a:ext uri="{FF2B5EF4-FFF2-40B4-BE49-F238E27FC236}">
                <a16:creationId xmlns:a16="http://schemas.microsoft.com/office/drawing/2014/main" id="{BF66D164-4A24-7F8F-585B-E81EEF199AEF}"/>
              </a:ext>
            </a:extLst>
          </p:cNvPr>
          <p:cNvGraphicFramePr>
            <a:graphicFrameLocks noGrp="1"/>
          </p:cNvGraphicFramePr>
          <p:nvPr>
            <p:extLst>
              <p:ext uri="{D42A27DB-BD31-4B8C-83A1-F6EECF244321}">
                <p14:modId xmlns:p14="http://schemas.microsoft.com/office/powerpoint/2010/main" val="3690521382"/>
              </p:ext>
            </p:extLst>
          </p:nvPr>
        </p:nvGraphicFramePr>
        <p:xfrm>
          <a:off x="345440" y="833120"/>
          <a:ext cx="11501119" cy="5371109"/>
        </p:xfrm>
        <a:graphic>
          <a:graphicData uri="http://schemas.openxmlformats.org/drawingml/2006/table">
            <a:tbl>
              <a:tblPr firstRow="1" bandRow="1">
                <a:tableStyleId>{EEE7283C-3CF3-47DC-8721-378D4A62B228}</a:tableStyleId>
              </a:tblPr>
              <a:tblGrid>
                <a:gridCol w="398264">
                  <a:extLst>
                    <a:ext uri="{9D8B030D-6E8A-4147-A177-3AD203B41FA5}">
                      <a16:colId xmlns:a16="http://schemas.microsoft.com/office/drawing/2014/main" val="739043522"/>
                    </a:ext>
                  </a:extLst>
                </a:gridCol>
                <a:gridCol w="1065287">
                  <a:extLst>
                    <a:ext uri="{9D8B030D-6E8A-4147-A177-3AD203B41FA5}">
                      <a16:colId xmlns:a16="http://schemas.microsoft.com/office/drawing/2014/main" val="2216152480"/>
                    </a:ext>
                  </a:extLst>
                </a:gridCol>
                <a:gridCol w="2335012">
                  <a:extLst>
                    <a:ext uri="{9D8B030D-6E8A-4147-A177-3AD203B41FA5}">
                      <a16:colId xmlns:a16="http://schemas.microsoft.com/office/drawing/2014/main" val="2141654083"/>
                    </a:ext>
                  </a:extLst>
                </a:gridCol>
                <a:gridCol w="7702556">
                  <a:extLst>
                    <a:ext uri="{9D8B030D-6E8A-4147-A177-3AD203B41FA5}">
                      <a16:colId xmlns:a16="http://schemas.microsoft.com/office/drawing/2014/main" val="901742814"/>
                    </a:ext>
                  </a:extLst>
                </a:gridCol>
              </a:tblGrid>
              <a:tr h="521084">
                <a:tc>
                  <a:txBody>
                    <a:bodyPr/>
                    <a:lstStyle/>
                    <a:p>
                      <a:pPr algn="ctr"/>
                      <a:r>
                        <a:rPr lang="en-US" sz="1200" dirty="0" err="1">
                          <a:latin typeface="Times New Roman" panose="02020603050405020304" pitchFamily="18" charset="0"/>
                          <a:cs typeface="Times New Roman" panose="02020603050405020304" pitchFamily="18" charset="0"/>
                        </a:rPr>
                        <a:t>Sl.No</a:t>
                      </a:r>
                      <a:r>
                        <a:rPr lang="en-US" sz="1200" dirty="0">
                          <a:latin typeface="Times New Roman" panose="02020603050405020304" pitchFamily="18" charset="0"/>
                          <a:cs typeface="Times New Roman" panose="02020603050405020304" pitchFamily="18" charset="0"/>
                        </a:rPr>
                        <a:t>.</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AUTHORS</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PAPER</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INFERENCE</a:t>
                      </a:r>
                    </a:p>
                  </a:txBody>
                  <a:tcPr>
                    <a:solidFill>
                      <a:srgbClr val="AA022A"/>
                    </a:solidFill>
                  </a:tcPr>
                </a:tc>
                <a:extLst>
                  <a:ext uri="{0D108BD9-81ED-4DB2-BD59-A6C34878D82A}">
                    <a16:rowId xmlns:a16="http://schemas.microsoft.com/office/drawing/2014/main" val="4026048611"/>
                  </a:ext>
                </a:extLst>
              </a:tr>
              <a:tr h="1146467">
                <a:tc>
                  <a:txBody>
                    <a:bodyPr/>
                    <a:lstStyle/>
                    <a:p>
                      <a:pPr algn="l"/>
                      <a:r>
                        <a:rPr lang="en-US" sz="1600" b="0" dirty="0">
                          <a:latin typeface="Times New Roman" panose="02020603050405020304" pitchFamily="18" charset="0"/>
                          <a:cs typeface="Times New Roman" panose="02020603050405020304" pitchFamily="18" charset="0"/>
                        </a:rPr>
                        <a:t>7</a:t>
                      </a:r>
                    </a:p>
                  </a:txBody>
                  <a:tcPr/>
                </a:tc>
                <a:tc>
                  <a:txBody>
                    <a:bodyPr/>
                    <a:lstStyle/>
                    <a:p>
                      <a:r>
                        <a:rPr lang="en-IN" sz="1600" dirty="0">
                          <a:latin typeface="Times New Roman" panose="02020603050405020304" pitchFamily="18" charset="0"/>
                          <a:cs typeface="Times New Roman" panose="02020603050405020304" pitchFamily="18" charset="0"/>
                        </a:rPr>
                        <a:t>Jin et al. </a:t>
                      </a:r>
                    </a:p>
                    <a:p>
                      <a:r>
                        <a:rPr lang="en-IN" sz="1600" b="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2022)</a:t>
                      </a:r>
                      <a:endParaRPr lang="en-US" sz="1600" b="1"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IN" sz="1600" dirty="0" err="1"/>
                        <a:t>Spatio</a:t>
                      </a:r>
                      <a:r>
                        <a:rPr lang="en-IN" sz="1600" dirty="0"/>
                        <a:t>-Temporal Graph Neural Point Process (STGNPP)</a:t>
                      </a:r>
                      <a:endParaRPr lang="en-US" sz="1600" b="0" dirty="0">
                        <a:latin typeface="Times New Roman" panose="02020603050405020304" pitchFamily="18" charset="0"/>
                        <a:cs typeface="Times New Roman" panose="02020603050405020304" pitchFamily="18" charset="0"/>
                      </a:endParaRPr>
                    </a:p>
                    <a:p>
                      <a:pPr algn="just"/>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Proposes </a:t>
                      </a:r>
                      <a:r>
                        <a:rPr lang="en-IN" sz="1600" dirty="0"/>
                        <a:t>STGNPP combining </a:t>
                      </a:r>
                      <a:r>
                        <a:rPr lang="en-IN" sz="1600" dirty="0" err="1"/>
                        <a:t>spatio</a:t>
                      </a:r>
                      <a:r>
                        <a:rPr lang="en-IN" sz="1600" dirty="0"/>
                        <a:t>-temporal graph learning with neural point processes for predicting congestion event time + duration.</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Outperforms existing deep models on two datasets with superior continuous-time prediction accuracy.</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Limitation: Predicting sparse events requires high-quality event logs; difficult to apply in noisy environments.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4041938"/>
                  </a:ext>
                </a:extLst>
              </a:tr>
              <a:tr h="1461427">
                <a:tc>
                  <a:txBody>
                    <a:bodyPr/>
                    <a:lstStyle/>
                    <a:p>
                      <a:pPr algn="l"/>
                      <a:r>
                        <a:rPr lang="en-US" sz="1600" b="0" dirty="0">
                          <a:latin typeface="Times New Roman" panose="02020603050405020304" pitchFamily="18" charset="0"/>
                          <a:cs typeface="Times New Roman" panose="02020603050405020304" pitchFamily="18" charset="0"/>
                        </a:rPr>
                        <a:t>8</a:t>
                      </a:r>
                    </a:p>
                  </a:txBody>
                  <a:tcPr/>
                </a:tc>
                <a:tc>
                  <a:txBody>
                    <a:bodyPr/>
                    <a:lstStyle/>
                    <a:p>
                      <a:r>
                        <a:rPr lang="en-US" sz="1600" dirty="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Zhao et al. (</a:t>
                      </a:r>
                      <a:r>
                        <a:rPr lang="en-IN" sz="1600" dirty="0">
                          <a:latin typeface="Times New Roman" panose="02020603050405020304" pitchFamily="18" charset="0"/>
                          <a:cs typeface="Times New Roman" panose="02020603050405020304" pitchFamily="18" charset="0"/>
                        </a:rPr>
                        <a:t>2019)</a:t>
                      </a:r>
                      <a:endParaRPr lang="en-US" sz="1600" b="1" dirty="0">
                        <a:latin typeface="Times New Roman" panose="02020603050405020304" pitchFamily="18" charset="0"/>
                        <a:cs typeface="Times New Roman" panose="02020603050405020304" pitchFamily="18" charset="0"/>
                      </a:endParaRPr>
                    </a:p>
                  </a:txBody>
                  <a:tcPr/>
                </a:tc>
                <a:tc>
                  <a:txBody>
                    <a:bodyPr/>
                    <a:lstStyle/>
                    <a:p>
                      <a:pPr algn="just"/>
                      <a:r>
                        <a:rPr lang="fr-FR" sz="1600" dirty="0"/>
                        <a:t>T-GCN (Temporal Graph </a:t>
                      </a:r>
                      <a:r>
                        <a:rPr lang="fr-FR" sz="1600" dirty="0" err="1"/>
                        <a:t>Convolutional</a:t>
                      </a:r>
                      <a:r>
                        <a:rPr lang="fr-FR" sz="1600" dirty="0"/>
                        <a:t> Network)</a:t>
                      </a:r>
                      <a:r>
                        <a:rPr lang="en-US" sz="1600" dirty="0"/>
                        <a:t> – </a:t>
                      </a:r>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600" dirty="0"/>
                        <a:t>Introduces T-GCN combining GCN (spatial) and GRU (temporal) for urban road network forecasting.</a:t>
                      </a:r>
                    </a:p>
                    <a:p>
                      <a:pPr marL="285750" indent="-285750" algn="just">
                        <a:buFont typeface="Arial" panose="020B0604020202020204" pitchFamily="34" charset="0"/>
                        <a:buChar char="•"/>
                      </a:pPr>
                      <a:r>
                        <a:rPr lang="en-IN" sz="1600" dirty="0"/>
                        <a:t>Consistently outperforms ARIMA, KNN, and classical models in speed/flow prediction accuracy on multiple real datasets.</a:t>
                      </a:r>
                    </a:p>
                    <a:p>
                      <a:pPr marL="285750" indent="-285750" algn="just">
                        <a:buFont typeface="Arial" panose="020B0604020202020204" pitchFamily="34" charset="0"/>
                        <a:buChar char="•"/>
                      </a:pPr>
                      <a:r>
                        <a:rPr lang="en-IN" sz="1600" dirty="0"/>
                        <a:t>Limitation: Struggles with rapidly changing traffic patterns; limited support for long-range temporal dependencies.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840321"/>
                  </a:ext>
                </a:extLst>
              </a:tr>
              <a:tr h="1622069">
                <a:tc>
                  <a:txBody>
                    <a:bodyPr/>
                    <a:lstStyle/>
                    <a:p>
                      <a:pPr algn="l"/>
                      <a:r>
                        <a:rPr lang="en-US" sz="1600" b="0" dirty="0">
                          <a:latin typeface="Times New Roman" panose="02020603050405020304" pitchFamily="18" charset="0"/>
                          <a:cs typeface="Times New Roman" panose="02020603050405020304" pitchFamily="18" charset="0"/>
                        </a:rPr>
                        <a:t>9</a:t>
                      </a:r>
                    </a:p>
                  </a:txBody>
                  <a:tcPr/>
                </a:tc>
                <a:tc>
                  <a:txBody>
                    <a:bodyPr/>
                    <a:lstStyle/>
                    <a:p>
                      <a:r>
                        <a:rPr lang="en-US" sz="1600" dirty="0">
                          <a:latin typeface="Times New Roman" panose="02020603050405020304" pitchFamily="18" charset="0"/>
                          <a:cs typeface="Times New Roman" panose="02020603050405020304" pitchFamily="18" charset="0"/>
                        </a:rPr>
                        <a:t>Zhang et al. (</a:t>
                      </a:r>
                      <a:r>
                        <a:rPr lang="en-IN" sz="1600" dirty="0">
                          <a:latin typeface="Times New Roman" panose="02020603050405020304" pitchFamily="18" charset="0"/>
                          <a:cs typeface="Times New Roman" panose="02020603050405020304" pitchFamily="18" charset="0"/>
                        </a:rPr>
                        <a:t>2021)</a:t>
                      </a: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600" dirty="0"/>
                        <a:t>Large-Scale Graph Forecasting with Network Partitioning</a:t>
                      </a:r>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Proposes SMP (Speed-Matching-Partitioning) to partition large traffic networks and train parallel GCN-based predictors.</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Improves prediction accuracy and training efficiency on three large datasets; enhances scalability.</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t>Limitation: Partition quality heavily depends on speed similarity; sub-optimal partitioning reduces model accuracy</a:t>
                      </a:r>
                      <a:r>
                        <a:rPr lang="en-US" sz="1600" dirty="0"/>
                        <a:t>.</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1437940"/>
                  </a:ext>
                </a:extLst>
              </a:tr>
            </a:tbl>
          </a:graphicData>
        </a:graphic>
      </p:graphicFrame>
    </p:spTree>
    <p:extLst>
      <p:ext uri="{BB962C8B-B14F-4D97-AF65-F5344CB8AC3E}">
        <p14:creationId xmlns:p14="http://schemas.microsoft.com/office/powerpoint/2010/main" val="2891003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3A4CA-4C53-9592-F94F-330EEE014A5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1217C4-69AA-6094-75A9-1578D8EEFF55}"/>
              </a:ext>
            </a:extLst>
          </p:cNvPr>
          <p:cNvSpPr>
            <a:spLocks noGrp="1"/>
          </p:cNvSpPr>
          <p:nvPr>
            <p:ph type="title"/>
          </p:nvPr>
        </p:nvSpPr>
        <p:spPr>
          <a:xfrm>
            <a:off x="1807190" y="379245"/>
            <a:ext cx="8577617" cy="316081"/>
          </a:xfrm>
        </p:spPr>
        <p:txBody>
          <a:bodyPr/>
          <a:lstStyle/>
          <a:p>
            <a:pPr algn="ctr"/>
            <a:r>
              <a:rPr lang="en-US" sz="4000" dirty="0">
                <a:solidFill>
                  <a:srgbClr val="FF0000"/>
                </a:solidFill>
                <a:cs typeface="Times New Roman" panose="02020603050405020304" pitchFamily="18" charset="0"/>
              </a:rPr>
              <a:t>Literature Survey</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57CC1A-E0F3-3556-68AF-EB3943385B54}"/>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8</a:t>
            </a:fld>
            <a:endParaRPr lang="en-US" kern="1200">
              <a:solidFill>
                <a:prstClr val="white"/>
              </a:solidFill>
              <a:latin typeface="Calibri"/>
              <a:ea typeface="+mn-ea"/>
              <a:cs typeface="+mn-cs"/>
            </a:endParaRPr>
          </a:p>
        </p:txBody>
      </p:sp>
      <p:graphicFrame>
        <p:nvGraphicFramePr>
          <p:cNvPr id="8" name="Table 2">
            <a:extLst>
              <a:ext uri="{FF2B5EF4-FFF2-40B4-BE49-F238E27FC236}">
                <a16:creationId xmlns:a16="http://schemas.microsoft.com/office/drawing/2014/main" id="{5301D0B3-EAD3-C02F-1B45-0FE33F22D468}"/>
              </a:ext>
            </a:extLst>
          </p:cNvPr>
          <p:cNvGraphicFramePr>
            <a:graphicFrameLocks noGrp="1"/>
          </p:cNvGraphicFramePr>
          <p:nvPr>
            <p:extLst>
              <p:ext uri="{D42A27DB-BD31-4B8C-83A1-F6EECF244321}">
                <p14:modId xmlns:p14="http://schemas.microsoft.com/office/powerpoint/2010/main" val="2116212737"/>
              </p:ext>
            </p:extLst>
          </p:nvPr>
        </p:nvGraphicFramePr>
        <p:xfrm>
          <a:off x="345440" y="1432560"/>
          <a:ext cx="11501119" cy="3992880"/>
        </p:xfrm>
        <a:graphic>
          <a:graphicData uri="http://schemas.openxmlformats.org/drawingml/2006/table">
            <a:tbl>
              <a:tblPr firstRow="1" bandRow="1">
                <a:tableStyleId>{EEE7283C-3CF3-47DC-8721-378D4A62B228}</a:tableStyleId>
              </a:tblPr>
              <a:tblGrid>
                <a:gridCol w="398264">
                  <a:extLst>
                    <a:ext uri="{9D8B030D-6E8A-4147-A177-3AD203B41FA5}">
                      <a16:colId xmlns:a16="http://schemas.microsoft.com/office/drawing/2014/main" val="739043522"/>
                    </a:ext>
                  </a:extLst>
                </a:gridCol>
                <a:gridCol w="1065287">
                  <a:extLst>
                    <a:ext uri="{9D8B030D-6E8A-4147-A177-3AD203B41FA5}">
                      <a16:colId xmlns:a16="http://schemas.microsoft.com/office/drawing/2014/main" val="2216152480"/>
                    </a:ext>
                  </a:extLst>
                </a:gridCol>
                <a:gridCol w="2335012">
                  <a:extLst>
                    <a:ext uri="{9D8B030D-6E8A-4147-A177-3AD203B41FA5}">
                      <a16:colId xmlns:a16="http://schemas.microsoft.com/office/drawing/2014/main" val="2141654083"/>
                    </a:ext>
                  </a:extLst>
                </a:gridCol>
                <a:gridCol w="7702556">
                  <a:extLst>
                    <a:ext uri="{9D8B030D-6E8A-4147-A177-3AD203B41FA5}">
                      <a16:colId xmlns:a16="http://schemas.microsoft.com/office/drawing/2014/main" val="901742814"/>
                    </a:ext>
                  </a:extLst>
                </a:gridCol>
              </a:tblGrid>
              <a:tr h="470284">
                <a:tc>
                  <a:txBody>
                    <a:bodyPr/>
                    <a:lstStyle/>
                    <a:p>
                      <a:pPr algn="ctr"/>
                      <a:r>
                        <a:rPr lang="en-US" sz="1200" dirty="0" err="1">
                          <a:latin typeface="Times New Roman" panose="02020603050405020304" pitchFamily="18" charset="0"/>
                          <a:cs typeface="Times New Roman" panose="02020603050405020304" pitchFamily="18" charset="0"/>
                        </a:rPr>
                        <a:t>Sl.No</a:t>
                      </a:r>
                      <a:r>
                        <a:rPr lang="en-US" sz="1200" dirty="0">
                          <a:latin typeface="Times New Roman" panose="02020603050405020304" pitchFamily="18" charset="0"/>
                          <a:cs typeface="Times New Roman" panose="02020603050405020304" pitchFamily="18" charset="0"/>
                        </a:rPr>
                        <a:t>.</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AUTHORS</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PAPER</a:t>
                      </a:r>
                    </a:p>
                  </a:txBody>
                  <a:tcPr>
                    <a:solidFill>
                      <a:srgbClr val="AA022A"/>
                    </a:solidFill>
                  </a:tcPr>
                </a:tc>
                <a:tc>
                  <a:txBody>
                    <a:bodyPr/>
                    <a:lstStyle/>
                    <a:p>
                      <a:pPr algn="ctr"/>
                      <a:r>
                        <a:rPr lang="en-US" sz="1200" dirty="0">
                          <a:latin typeface="Times New Roman" panose="02020603050405020304" pitchFamily="18" charset="0"/>
                          <a:cs typeface="Times New Roman" panose="02020603050405020304" pitchFamily="18" charset="0"/>
                        </a:rPr>
                        <a:t>INFERENCE</a:t>
                      </a:r>
                    </a:p>
                  </a:txBody>
                  <a:tcPr>
                    <a:solidFill>
                      <a:srgbClr val="AA022A"/>
                    </a:solidFill>
                  </a:tcPr>
                </a:tc>
                <a:extLst>
                  <a:ext uri="{0D108BD9-81ED-4DB2-BD59-A6C34878D82A}">
                    <a16:rowId xmlns:a16="http://schemas.microsoft.com/office/drawing/2014/main" val="4026048611"/>
                  </a:ext>
                </a:extLst>
              </a:tr>
              <a:tr h="1146467">
                <a:tc>
                  <a:txBody>
                    <a:bodyPr/>
                    <a:lstStyle/>
                    <a:p>
                      <a:pPr algn="l"/>
                      <a:r>
                        <a:rPr lang="en-US" sz="1600" b="0" dirty="0">
                          <a:latin typeface="Times New Roman" panose="02020603050405020304" pitchFamily="18" charset="0"/>
                          <a:cs typeface="Times New Roman" panose="02020603050405020304" pitchFamily="18" charset="0"/>
                        </a:rPr>
                        <a:t>10</a:t>
                      </a:r>
                    </a:p>
                  </a:txBody>
                  <a:tcPr/>
                </a:tc>
                <a:tc>
                  <a:txBody>
                    <a:bodyPr/>
                    <a:lstStyle/>
                    <a:p>
                      <a:r>
                        <a:rPr lang="en-US" sz="1600" b="0" dirty="0">
                          <a:latin typeface="Times New Roman" panose="02020603050405020304" pitchFamily="18" charset="0"/>
                          <a:cs typeface="Times New Roman" panose="02020603050405020304" pitchFamily="18" charset="0"/>
                        </a:rPr>
                        <a:t>Chen et al. (2022)</a:t>
                      </a:r>
                    </a:p>
                  </a:txBody>
                  <a:tcPr/>
                </a:tc>
                <a:tc>
                  <a:txBody>
                    <a:bodyPr/>
                    <a:lstStyle/>
                    <a:p>
                      <a:r>
                        <a:rPr lang="en-US" sz="1600" b="0" dirty="0" err="1"/>
                        <a:t>TrafficStream</a:t>
                      </a:r>
                      <a:r>
                        <a:rPr lang="en-US" sz="1600" b="0" dirty="0"/>
                        <a:t> (GNN + Continual Learning for Streaming Data)</a:t>
                      </a:r>
                    </a:p>
                    <a:p>
                      <a:pPr algn="just"/>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Develops </a:t>
                      </a:r>
                      <a:r>
                        <a:rPr lang="en-US" sz="1600" dirty="0" err="1"/>
                        <a:t>TrafficStream</a:t>
                      </a:r>
                      <a:r>
                        <a:rPr lang="en-US" sz="1600" dirty="0"/>
                        <a:t> using GNN + continual learning with pattern fusion and parameter smoothing to handle evolving traffic networks.</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Demonstrates high efficiency and strong long-term prediction accuracy on streaming datasets.</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Limitation: Requires frequent pattern mining updates; performance sensitive to drift-detection thresholds.</a:t>
                      </a:r>
                    </a:p>
                    <a:p>
                      <a:pPr marL="285750" marR="0" lvl="0" indent="-285750" algn="just"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4041938"/>
                  </a:ext>
                </a:extLst>
              </a:tr>
              <a:tr h="1461427">
                <a:tc>
                  <a:txBody>
                    <a:bodyPr/>
                    <a:lstStyle/>
                    <a:p>
                      <a:pPr algn="l"/>
                      <a:r>
                        <a:rPr lang="en-US" sz="1600" b="0" dirty="0">
                          <a:latin typeface="Times New Roman" panose="02020603050405020304" pitchFamily="18" charset="0"/>
                          <a:cs typeface="Times New Roman" panose="02020603050405020304" pitchFamily="18" charset="0"/>
                        </a:rPr>
                        <a:t>11</a:t>
                      </a:r>
                    </a:p>
                  </a:txBody>
                  <a:tcPr/>
                </a:tc>
                <a:tc>
                  <a:txBody>
                    <a:bodyPr/>
                    <a:lstStyle/>
                    <a:p>
                      <a:r>
                        <a:rPr lang="en-US" sz="1600" dirty="0">
                          <a:latin typeface="Times New Roman" panose="02020603050405020304" pitchFamily="18" charset="0"/>
                          <a:cs typeface="Times New Roman" panose="02020603050405020304" pitchFamily="18" charset="0"/>
                        </a:rPr>
                        <a:t> Pan et al. (2023 )</a:t>
                      </a:r>
                      <a:endParaRPr lang="en-US" sz="1600" b="1" dirty="0">
                        <a:latin typeface="Times New Roman" panose="02020603050405020304" pitchFamily="18" charset="0"/>
                        <a:cs typeface="Times New Roman" panose="02020603050405020304" pitchFamily="18" charset="0"/>
                      </a:endParaRPr>
                    </a:p>
                  </a:txBody>
                  <a:tcPr/>
                </a:tc>
                <a:tc>
                  <a:txBody>
                    <a:bodyPr/>
                    <a:lstStyle/>
                    <a:p>
                      <a:pPr algn="just"/>
                      <a:r>
                        <a:rPr lang="en-US" sz="1600" dirty="0"/>
                        <a:t>Physics-Guided </a:t>
                      </a:r>
                      <a:r>
                        <a:rPr lang="en-US" sz="1600" dirty="0" err="1"/>
                        <a:t>Spatio</a:t>
                      </a:r>
                      <a:r>
                        <a:rPr lang="en-US" sz="1600" dirty="0"/>
                        <a:t>-Temporal GNN (PG-STGNN)</a:t>
                      </a:r>
                      <a:endParaRPr lang="en-US" sz="1600" b="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600" dirty="0"/>
                        <a:t>Introduces PG-STGNN integrating physics-based traffic constraints with </a:t>
                      </a:r>
                      <a:r>
                        <a:rPr lang="en-IN" sz="1600" dirty="0" err="1"/>
                        <a:t>spatio</a:t>
                      </a:r>
                      <a:r>
                        <a:rPr lang="en-IN" sz="1600" dirty="0"/>
                        <a:t>-temporal GNN for intersection flow prediction.</a:t>
                      </a:r>
                    </a:p>
                    <a:p>
                      <a:pPr marL="285750" indent="-285750" algn="just">
                        <a:buFont typeface="Arial" panose="020B0604020202020204" pitchFamily="34" charset="0"/>
                        <a:buChar char="•"/>
                      </a:pPr>
                      <a:r>
                        <a:rPr lang="en-IN" sz="1600" dirty="0"/>
                        <a:t>Achieves lowest MAPE (9.45%), MAE (2.485), RMSE (4.364), outperforming ARIMA, KNN, RF, T-GCN, STGCN, ST-ED-RMGC.</a:t>
                      </a:r>
                    </a:p>
                    <a:p>
                      <a:pPr marL="285750" indent="-285750" algn="just">
                        <a:buFont typeface="Arial" panose="020B0604020202020204" pitchFamily="34" charset="0"/>
                        <a:buChar char="•"/>
                      </a:pPr>
                      <a:r>
                        <a:rPr lang="en-IN" sz="1600" dirty="0"/>
                        <a:t>Limitation: Focused on intersections only; requires domain-specific tuning of physics-guided parameters.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840321"/>
                  </a:ext>
                </a:extLst>
              </a:tr>
            </a:tbl>
          </a:graphicData>
        </a:graphic>
      </p:graphicFrame>
    </p:spTree>
    <p:extLst>
      <p:ext uri="{BB962C8B-B14F-4D97-AF65-F5344CB8AC3E}">
        <p14:creationId xmlns:p14="http://schemas.microsoft.com/office/powerpoint/2010/main" val="2837852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1" y="398345"/>
            <a:ext cx="8577617" cy="316081"/>
          </a:xfrm>
        </p:spPr>
        <p:txBody>
          <a:bodyPr/>
          <a:lstStyle/>
          <a:p>
            <a:pPr algn="ctr"/>
            <a:r>
              <a:rPr lang="en-US" sz="4000" dirty="0">
                <a:solidFill>
                  <a:srgbClr val="FF0000"/>
                </a:solidFill>
                <a:cs typeface="Times New Roman" panose="02020603050405020304" pitchFamily="18" charset="0"/>
              </a:rPr>
              <a:t>Summary</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9</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88B0DAAE-965E-DCF4-583C-684F256D9832}"/>
              </a:ext>
            </a:extLst>
          </p:cNvPr>
          <p:cNvSpPr txBox="1"/>
          <p:nvPr/>
        </p:nvSpPr>
        <p:spPr>
          <a:xfrm>
            <a:off x="874646" y="1148080"/>
            <a:ext cx="10352154" cy="4401205"/>
          </a:xfrm>
          <a:prstGeom prst="rect">
            <a:avLst/>
          </a:prstGeom>
          <a:noFill/>
        </p:spPr>
        <p:txBody>
          <a:bodyPr wrap="square" rtlCol="0">
            <a:spAutoFit/>
          </a:bodyPr>
          <a:lstStyle/>
          <a:p>
            <a:pPr algn="just"/>
            <a:r>
              <a:rPr lang="en-US" sz="2000" dirty="0"/>
              <a:t>Most existing research focuses on </a:t>
            </a:r>
            <a:r>
              <a:rPr lang="en-US" sz="2000" dirty="0" err="1"/>
              <a:t>spatio</a:t>
            </a:r>
            <a:r>
              <a:rPr lang="en-US" sz="2000" dirty="0"/>
              <a:t>-temporal traffic modelling using advanced graph neural networks, continual learning strategies, adaptive graph construction, and streaming graph analytics. These works primarily address sensor-based traffic flow prediction, incident detection, or dynamic graph learning across road networks, and many achieve strong forecasting accuracy under controlled datasets. However, a common limitation across these studies is their dependence on predefined road graphs, dense sensor infrastructure, or extensive historical monitoring data. Many models require high computational resources, struggle with real-time causality, or are unsuitable for pure streaming environments where future information cannot be used. In contrast, the present system addresses these gaps by operating directly on taxi trajectory data without relying on fixed sensor networks or graph structures. By using spatial tiling, temporal windowing, dynamic congestion labeling, and strictly leakage-free features, the proposed framework enables real-time, window-by-window congestion prediction in a fully data-driven and deployment-realistic setting, effectively bridging the gap between trajectory-based analytics and real-time congestion forecasting.</a:t>
            </a:r>
            <a:endParaRPr lang="en-IN" sz="2000" dirty="0"/>
          </a:p>
        </p:txBody>
      </p:sp>
    </p:spTree>
    <p:extLst>
      <p:ext uri="{BB962C8B-B14F-4D97-AF65-F5344CB8AC3E}">
        <p14:creationId xmlns:p14="http://schemas.microsoft.com/office/powerpoint/2010/main" val="3499854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1" y="379245"/>
            <a:ext cx="8577617" cy="316081"/>
          </a:xfrm>
        </p:spPr>
        <p:txBody>
          <a:bodyPr/>
          <a:lstStyle/>
          <a:p>
            <a:pPr algn="ctr"/>
            <a:r>
              <a:rPr lang="en-US" sz="4000" dirty="0">
                <a:solidFill>
                  <a:srgbClr val="FF0000"/>
                </a:solidFill>
                <a:cs typeface="Times New Roman" panose="02020603050405020304" pitchFamily="18" charset="0"/>
              </a:rPr>
              <a:t>System Specifications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10</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CF8F6EEA-26A0-B7B8-D28E-49593BCE8D83}"/>
              </a:ext>
            </a:extLst>
          </p:cNvPr>
          <p:cNvSpPr txBox="1"/>
          <p:nvPr/>
        </p:nvSpPr>
        <p:spPr>
          <a:xfrm>
            <a:off x="975360" y="1071155"/>
            <a:ext cx="9743440" cy="5016758"/>
          </a:xfrm>
          <a:prstGeom prst="rect">
            <a:avLst/>
          </a:prstGeom>
          <a:noFill/>
        </p:spPr>
        <p:txBody>
          <a:bodyPr wrap="square" rtlCol="0">
            <a:spAutoFit/>
          </a:bodyPr>
          <a:lstStyle/>
          <a:p>
            <a:r>
              <a:rPr lang="en-IN" sz="2000" b="1" dirty="0"/>
              <a:t>Software Requirements</a:t>
            </a:r>
          </a:p>
          <a:p>
            <a:pPr marL="285750" indent="-285750">
              <a:buFont typeface="Arial" panose="020B0604020202020204" pitchFamily="34" charset="0"/>
              <a:buChar char="•"/>
            </a:pPr>
            <a:r>
              <a:rPr lang="en-IN" sz="2000" dirty="0"/>
              <a:t>Python 3.9+</a:t>
            </a:r>
          </a:p>
          <a:p>
            <a:pPr marL="285750" indent="-285750">
              <a:buFont typeface="Arial" panose="020B0604020202020204" pitchFamily="34" charset="0"/>
              <a:buChar char="•"/>
            </a:pPr>
            <a:r>
              <a:rPr lang="en-IN" sz="2000" dirty="0"/>
              <a:t>Libraries: </a:t>
            </a:r>
            <a:r>
              <a:rPr lang="en-IN" sz="2000" b="1" dirty="0"/>
              <a:t>pandas, </a:t>
            </a:r>
            <a:r>
              <a:rPr lang="en-IN" sz="2000" b="1" dirty="0" err="1"/>
              <a:t>numpy</a:t>
            </a:r>
            <a:r>
              <a:rPr lang="en-IN" sz="2000" b="1" dirty="0"/>
              <a:t>, scikit-learn, </a:t>
            </a:r>
            <a:r>
              <a:rPr lang="en-IN" sz="2000" b="1" dirty="0" err="1"/>
              <a:t>catboost</a:t>
            </a:r>
            <a:r>
              <a:rPr lang="en-IN" sz="2000" b="1" dirty="0"/>
              <a:t>, </a:t>
            </a:r>
            <a:r>
              <a:rPr lang="en-IN" sz="2000" b="1" dirty="0" err="1"/>
              <a:t>joblib</a:t>
            </a:r>
            <a:r>
              <a:rPr lang="en-IN" sz="2000" b="1" dirty="0"/>
              <a:t>, </a:t>
            </a:r>
            <a:r>
              <a:rPr lang="en-IN" sz="2000" b="1" dirty="0" err="1"/>
              <a:t>tqdm</a:t>
            </a:r>
            <a:endParaRPr lang="en-IN" sz="2000" dirty="0"/>
          </a:p>
          <a:p>
            <a:pPr marL="285750" indent="-285750">
              <a:buFont typeface="Arial" panose="020B0604020202020204" pitchFamily="34" charset="0"/>
              <a:buChar char="•"/>
            </a:pPr>
            <a:r>
              <a:rPr lang="en-IN" sz="2000" dirty="0"/>
              <a:t>Notebook environment: </a:t>
            </a:r>
            <a:r>
              <a:rPr lang="en-IN" sz="2000" b="1" dirty="0" err="1"/>
              <a:t>Jupyter</a:t>
            </a:r>
            <a:r>
              <a:rPr lang="en-IN" sz="2000" b="1" dirty="0"/>
              <a:t> / Google Colab</a:t>
            </a:r>
            <a:endParaRPr lang="en-IN" sz="2000" dirty="0"/>
          </a:p>
          <a:p>
            <a:endParaRPr lang="en-IN" sz="2000" dirty="0"/>
          </a:p>
          <a:p>
            <a:r>
              <a:rPr lang="en-IN" sz="2000" b="1" dirty="0"/>
              <a:t>Hardware Requirements</a:t>
            </a:r>
          </a:p>
          <a:p>
            <a:pPr marL="285750" indent="-285750">
              <a:buFont typeface="Arial" panose="020B0604020202020204" pitchFamily="34" charset="0"/>
              <a:buChar char="•"/>
            </a:pPr>
            <a:r>
              <a:rPr lang="en-IN" sz="2000" dirty="0"/>
              <a:t>RAM: </a:t>
            </a:r>
            <a:r>
              <a:rPr lang="en-IN" sz="2000" b="1" dirty="0"/>
              <a:t>8–16 GB</a:t>
            </a:r>
            <a:r>
              <a:rPr lang="en-IN" sz="2000" dirty="0"/>
              <a:t> (to process monthly taxi trip data efficiently)</a:t>
            </a:r>
          </a:p>
          <a:p>
            <a:pPr marL="285750" indent="-285750">
              <a:buFont typeface="Arial" panose="020B0604020202020204" pitchFamily="34" charset="0"/>
              <a:buChar char="•"/>
            </a:pPr>
            <a:r>
              <a:rPr lang="en-IN" sz="2000" dirty="0"/>
              <a:t>Storage: </a:t>
            </a:r>
            <a:r>
              <a:rPr lang="en-IN" sz="2000" b="1" dirty="0"/>
              <a:t>5–10 GB</a:t>
            </a:r>
            <a:r>
              <a:rPr lang="en-IN" sz="2000" dirty="0"/>
              <a:t> for raw + processed trip records</a:t>
            </a:r>
          </a:p>
          <a:p>
            <a:endParaRPr lang="en-IN" sz="2000" dirty="0"/>
          </a:p>
          <a:p>
            <a:r>
              <a:rPr lang="en-IN" sz="2000" b="1" dirty="0"/>
              <a:t>Dataset Specifications</a:t>
            </a:r>
          </a:p>
          <a:p>
            <a:pPr marL="285750" indent="-285750">
              <a:buFont typeface="Arial" panose="020B0604020202020204" pitchFamily="34" charset="0"/>
              <a:buChar char="•"/>
            </a:pPr>
            <a:r>
              <a:rPr lang="en-IN" sz="2000" dirty="0"/>
              <a:t>Dataset: NYC Yellow Taxi Trip Data</a:t>
            </a:r>
          </a:p>
          <a:p>
            <a:pPr marL="285750" indent="-285750">
              <a:buFont typeface="Arial" panose="020B0604020202020204" pitchFamily="34" charset="0"/>
              <a:buChar char="•"/>
            </a:pPr>
            <a:r>
              <a:rPr lang="en-IN" sz="2000" dirty="0"/>
              <a:t>Records Used: Several million trip events (one-month subset)</a:t>
            </a:r>
          </a:p>
          <a:p>
            <a:pPr marL="285750" indent="-285750">
              <a:buFont typeface="Arial" panose="020B0604020202020204" pitchFamily="34" charset="0"/>
              <a:buChar char="•"/>
            </a:pPr>
            <a:r>
              <a:rPr lang="en-IN" sz="2000" dirty="0"/>
              <a:t>Key Fields: </a:t>
            </a:r>
            <a:r>
              <a:rPr lang="en-IN" sz="2000" dirty="0" err="1"/>
              <a:t>pickup_datetime</a:t>
            </a:r>
            <a:r>
              <a:rPr lang="en-IN" sz="2000" dirty="0"/>
              <a:t>, </a:t>
            </a:r>
            <a:r>
              <a:rPr lang="en-IN" sz="2000" dirty="0" err="1"/>
              <a:t>pickup_latitude</a:t>
            </a:r>
            <a:r>
              <a:rPr lang="en-IN" sz="2000" dirty="0"/>
              <a:t>, </a:t>
            </a:r>
            <a:r>
              <a:rPr lang="en-IN" sz="2000" dirty="0" err="1"/>
              <a:t>pickup_longitude</a:t>
            </a:r>
            <a:r>
              <a:rPr lang="en-IN" sz="2000" dirty="0"/>
              <a:t>, </a:t>
            </a:r>
            <a:r>
              <a:rPr lang="en-IN" sz="2000" dirty="0" err="1"/>
              <a:t>trip_duration</a:t>
            </a:r>
            <a:endParaRPr lang="en-IN" sz="2000" dirty="0"/>
          </a:p>
          <a:p>
            <a:pPr marL="285750" indent="-285750">
              <a:buFont typeface="Arial" panose="020B0604020202020204" pitchFamily="34" charset="0"/>
              <a:buChar char="•"/>
            </a:pPr>
            <a:r>
              <a:rPr lang="en-IN" sz="2000" dirty="0"/>
              <a:t>Granularity: High-frequency, GPS-based mobility data</a:t>
            </a:r>
          </a:p>
          <a:p>
            <a:pPr marL="285750" indent="-285750">
              <a:buFont typeface="Arial" panose="020B0604020202020204" pitchFamily="34" charset="0"/>
              <a:buChar char="•"/>
            </a:pPr>
            <a:r>
              <a:rPr lang="en-IN" sz="2000" dirty="0"/>
              <a:t>Usage: Supports spatial tiling, time-windowing, and real-time congestion analysis</a:t>
            </a:r>
          </a:p>
          <a:p>
            <a:endParaRPr lang="en-IN" sz="2000" dirty="0"/>
          </a:p>
        </p:txBody>
      </p:sp>
    </p:spTree>
    <p:extLst>
      <p:ext uri="{BB962C8B-B14F-4D97-AF65-F5344CB8AC3E}">
        <p14:creationId xmlns:p14="http://schemas.microsoft.com/office/powerpoint/2010/main" val="4046392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E1DB3-2C49-5F72-58AF-D933BF397E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1DBB61-DD68-25EA-DF09-678EBCD45754}"/>
              </a:ext>
            </a:extLst>
          </p:cNvPr>
          <p:cNvSpPr>
            <a:spLocks noGrp="1"/>
          </p:cNvSpPr>
          <p:nvPr>
            <p:ph type="title"/>
          </p:nvPr>
        </p:nvSpPr>
        <p:spPr>
          <a:xfrm>
            <a:off x="1929110" y="198865"/>
            <a:ext cx="8577617" cy="316081"/>
          </a:xfrm>
        </p:spPr>
        <p:txBody>
          <a:bodyPr/>
          <a:lstStyle/>
          <a:p>
            <a:pPr algn="ctr"/>
            <a:r>
              <a:rPr lang="en-US" sz="4000" dirty="0">
                <a:solidFill>
                  <a:srgbClr val="FF0000"/>
                </a:solidFill>
                <a:cs typeface="Times New Roman" panose="02020603050405020304" pitchFamily="18" charset="0"/>
              </a:rPr>
              <a:t>System Design</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EE9C4987-A78B-1266-E73D-8AF559C0587E}"/>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11</a:t>
            </a:fld>
            <a:endParaRPr lang="en-US" kern="1200">
              <a:solidFill>
                <a:prstClr val="white"/>
              </a:solidFill>
              <a:latin typeface="Calibri"/>
              <a:ea typeface="+mn-ea"/>
              <a:cs typeface="+mn-cs"/>
            </a:endParaRPr>
          </a:p>
        </p:txBody>
      </p:sp>
      <p:pic>
        <p:nvPicPr>
          <p:cNvPr id="5" name="Picture 4">
            <a:extLst>
              <a:ext uri="{FF2B5EF4-FFF2-40B4-BE49-F238E27FC236}">
                <a16:creationId xmlns:a16="http://schemas.microsoft.com/office/drawing/2014/main" id="{855ECFB3-1F18-3672-5174-B2B092CFEE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1209" y="781665"/>
            <a:ext cx="4753417" cy="5612189"/>
          </a:xfrm>
          <a:prstGeom prst="rect">
            <a:avLst/>
          </a:prstGeom>
        </p:spPr>
      </p:pic>
    </p:spTree>
    <p:extLst>
      <p:ext uri="{BB962C8B-B14F-4D97-AF65-F5344CB8AC3E}">
        <p14:creationId xmlns:p14="http://schemas.microsoft.com/office/powerpoint/2010/main" val="821530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1" y="489785"/>
            <a:ext cx="8577617" cy="316081"/>
          </a:xfrm>
        </p:spPr>
        <p:txBody>
          <a:bodyPr/>
          <a:lstStyle/>
          <a:p>
            <a:pPr algn="ctr"/>
            <a:r>
              <a:rPr lang="en-US" sz="4000" dirty="0">
                <a:solidFill>
                  <a:srgbClr val="FF0000"/>
                </a:solidFill>
                <a:cs typeface="Times New Roman" panose="02020603050405020304" pitchFamily="18" charset="0"/>
              </a:rPr>
              <a:t>System Modules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12</a:t>
            </a:fld>
            <a:endParaRPr lang="en-US" kern="1200">
              <a:solidFill>
                <a:prstClr val="white"/>
              </a:solidFill>
              <a:latin typeface="Calibri"/>
              <a:ea typeface="+mn-ea"/>
              <a:cs typeface="+mn-cs"/>
            </a:endParaRPr>
          </a:p>
        </p:txBody>
      </p:sp>
      <p:sp>
        <p:nvSpPr>
          <p:cNvPr id="5" name="Rectangle 1">
            <a:extLst>
              <a:ext uri="{FF2B5EF4-FFF2-40B4-BE49-F238E27FC236}">
                <a16:creationId xmlns:a16="http://schemas.microsoft.com/office/drawing/2014/main" id="{C251F5E7-2C4E-3343-DCC8-A1A134BF58E1}"/>
              </a:ext>
            </a:extLst>
          </p:cNvPr>
          <p:cNvSpPr>
            <a:spLocks noChangeArrowheads="1"/>
          </p:cNvSpPr>
          <p:nvPr/>
        </p:nvSpPr>
        <p:spPr bwMode="auto">
          <a:xfrm>
            <a:off x="580006" y="1563841"/>
            <a:ext cx="11490646"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Ingestion &amp; Cleaning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load trips; remove invalid coords/timestamps; chronological ordering</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Spatial Tiling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convert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 → grid tiles; assign tile IDs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Temporal Windowing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group into 5–10 min windows; compute per-tile aggregates (mean, std, count)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Labeling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75th-percentile threshold per window → binary congested label</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Engineering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lag1/lag2, EWMA, congestion frequency,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log_count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hour/day/peak flags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Modeling &amp; Tuning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train LR, RF, ET, SVC, KNN,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CatBoost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save best model</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Streaming Prediction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sequential window inference, causal feature build, buffer updates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Monitoring &amp; Outputs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logs, confusion matrices, ROC, feature importance, output artifacts</a:t>
            </a:r>
          </a:p>
        </p:txBody>
      </p:sp>
    </p:spTree>
    <p:extLst>
      <p:ext uri="{BB962C8B-B14F-4D97-AF65-F5344CB8AC3E}">
        <p14:creationId xmlns:p14="http://schemas.microsoft.com/office/powerpoint/2010/main" val="3998404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1" y="357705"/>
            <a:ext cx="8577617" cy="316081"/>
          </a:xfrm>
        </p:spPr>
        <p:txBody>
          <a:bodyPr/>
          <a:lstStyle/>
          <a:p>
            <a:pPr algn="ctr"/>
            <a:r>
              <a:rPr lang="en-US" sz="4000" dirty="0">
                <a:solidFill>
                  <a:srgbClr val="FF0000"/>
                </a:solidFill>
                <a:cs typeface="Times New Roman" panose="02020603050405020304" pitchFamily="18" charset="0"/>
              </a:rPr>
              <a:t>Implementation Details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13</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066BB0D4-6144-64D9-7A63-1740283E5833}"/>
              </a:ext>
            </a:extLst>
          </p:cNvPr>
          <p:cNvSpPr txBox="1"/>
          <p:nvPr/>
        </p:nvSpPr>
        <p:spPr>
          <a:xfrm>
            <a:off x="1056640" y="1249680"/>
            <a:ext cx="10414000" cy="5016758"/>
          </a:xfrm>
          <a:prstGeom prst="rect">
            <a:avLst/>
          </a:prstGeom>
          <a:noFill/>
        </p:spPr>
        <p:txBody>
          <a:bodyPr wrap="square" rtlCol="0">
            <a:spAutoFit/>
          </a:bodyPr>
          <a:lstStyle/>
          <a:p>
            <a:pPr algn="just"/>
            <a:r>
              <a:rPr lang="en-US" sz="2000" b="1" dirty="0"/>
              <a:t>1. Data preparation</a:t>
            </a:r>
            <a:endParaRPr lang="en-US" sz="2000" dirty="0"/>
          </a:p>
          <a:p>
            <a:pPr marL="285750" indent="-285750" algn="just">
              <a:buFont typeface="Arial" panose="020B0604020202020204" pitchFamily="34" charset="0"/>
              <a:buChar char="•"/>
            </a:pPr>
            <a:r>
              <a:rPr lang="en-US" sz="2000" dirty="0"/>
              <a:t>Loaded NYC Yellow Taxi data; filtered missing/invalid rows; parsed </a:t>
            </a:r>
            <a:r>
              <a:rPr lang="en-US" sz="2000" dirty="0" err="1"/>
              <a:t>pickup_datetime</a:t>
            </a:r>
            <a:r>
              <a:rPr lang="en-US" sz="2000" dirty="0"/>
              <a:t>; sorted chronologically.</a:t>
            </a:r>
          </a:p>
          <a:p>
            <a:pPr marL="285750" indent="-285750" algn="just">
              <a:buFont typeface="Arial" panose="020B0604020202020204" pitchFamily="34" charset="0"/>
              <a:buChar char="•"/>
            </a:pPr>
            <a:endParaRPr lang="en-US" sz="2000" dirty="0"/>
          </a:p>
          <a:p>
            <a:pPr algn="just"/>
            <a:r>
              <a:rPr lang="en-US" sz="2000" b="1" dirty="0"/>
              <a:t>2. Spatial tiling</a:t>
            </a:r>
            <a:endParaRPr lang="en-US" sz="2000" dirty="0"/>
          </a:p>
          <a:p>
            <a:pPr marL="285750" indent="-285750" algn="just">
              <a:buFont typeface="Arial" panose="020B0604020202020204" pitchFamily="34" charset="0"/>
              <a:buChar char="•"/>
            </a:pPr>
            <a:r>
              <a:rPr lang="en-US" sz="2000" dirty="0"/>
              <a:t>Defined bounding box &amp; tile size; mapped every pickup to a tile id; stored </a:t>
            </a:r>
            <a:r>
              <a:rPr lang="en-US" sz="2000" dirty="0" err="1"/>
              <a:t>tile→coords</a:t>
            </a:r>
            <a:r>
              <a:rPr lang="en-US" sz="2000" dirty="0"/>
              <a:t> mapping.</a:t>
            </a:r>
          </a:p>
          <a:p>
            <a:pPr algn="just"/>
            <a:endParaRPr lang="en-US" sz="2000" dirty="0"/>
          </a:p>
          <a:p>
            <a:pPr algn="just"/>
            <a:r>
              <a:rPr lang="en-US" sz="2000" b="1" dirty="0"/>
              <a:t>3. Window aggregation</a:t>
            </a:r>
            <a:endParaRPr lang="en-US" sz="2000" dirty="0"/>
          </a:p>
          <a:p>
            <a:pPr marL="285750" indent="-285750" algn="just">
              <a:buFont typeface="Arial" panose="020B0604020202020204" pitchFamily="34" charset="0"/>
              <a:buChar char="•"/>
            </a:pPr>
            <a:r>
              <a:rPr lang="en-US" sz="2000" dirty="0"/>
              <a:t>Binned trips into fixed 5–10 minute windows; computed per-tile window statistics: mean duration, std, count, timestamp.</a:t>
            </a:r>
          </a:p>
          <a:p>
            <a:pPr algn="just"/>
            <a:endParaRPr lang="en-US" sz="2000" dirty="0"/>
          </a:p>
          <a:p>
            <a:pPr algn="just"/>
            <a:r>
              <a:rPr lang="en-US" sz="2000" b="1" dirty="0"/>
              <a:t>4. Dynamic labeling</a:t>
            </a:r>
            <a:endParaRPr lang="en-US" sz="2000" dirty="0"/>
          </a:p>
          <a:p>
            <a:pPr marL="285750" indent="-285750" algn="just">
              <a:buFont typeface="Arial" panose="020B0604020202020204" pitchFamily="34" charset="0"/>
              <a:buChar char="•"/>
            </a:pPr>
            <a:r>
              <a:rPr lang="en-US" sz="2000" dirty="0"/>
              <a:t>For each window, computed 75th percentile of tile mean durations; labeled tiles with mean ≥ percentile as congested (1), otherwise 0.</a:t>
            </a:r>
          </a:p>
          <a:p>
            <a:pPr marL="285750" indent="-285750" algn="just">
              <a:buFont typeface="Arial" panose="020B0604020202020204" pitchFamily="34" charset="0"/>
              <a:buChar char="•"/>
            </a:pPr>
            <a:endParaRPr lang="en-US" sz="2000" dirty="0"/>
          </a:p>
          <a:p>
            <a:pPr algn="just"/>
            <a:endParaRPr lang="en-IN" sz="2000" dirty="0"/>
          </a:p>
        </p:txBody>
      </p:sp>
    </p:spTree>
    <p:extLst>
      <p:ext uri="{BB962C8B-B14F-4D97-AF65-F5344CB8AC3E}">
        <p14:creationId xmlns:p14="http://schemas.microsoft.com/office/powerpoint/2010/main" val="2852115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25D76-C486-7BC4-8DEE-34E3FA2412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821EFF-8E4C-1061-3C5C-938EA675169A}"/>
              </a:ext>
            </a:extLst>
          </p:cNvPr>
          <p:cNvSpPr>
            <a:spLocks noGrp="1"/>
          </p:cNvSpPr>
          <p:nvPr>
            <p:ph type="title"/>
          </p:nvPr>
        </p:nvSpPr>
        <p:spPr>
          <a:xfrm>
            <a:off x="1807191" y="347545"/>
            <a:ext cx="8577617" cy="316081"/>
          </a:xfrm>
        </p:spPr>
        <p:txBody>
          <a:bodyPr/>
          <a:lstStyle/>
          <a:p>
            <a:pPr algn="ctr"/>
            <a:r>
              <a:rPr lang="en-US" sz="4000" dirty="0">
                <a:solidFill>
                  <a:srgbClr val="FF0000"/>
                </a:solidFill>
                <a:cs typeface="Times New Roman" panose="02020603050405020304" pitchFamily="18" charset="0"/>
              </a:rPr>
              <a:t>Implementation Details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8DB8BD-0D53-81EB-BF5B-01B7EAA827C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14</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C788CB91-A01C-7180-1695-A83D03D2CEFE}"/>
              </a:ext>
            </a:extLst>
          </p:cNvPr>
          <p:cNvSpPr txBox="1"/>
          <p:nvPr/>
        </p:nvSpPr>
        <p:spPr>
          <a:xfrm>
            <a:off x="965200" y="1127760"/>
            <a:ext cx="10414000" cy="5016758"/>
          </a:xfrm>
          <a:prstGeom prst="rect">
            <a:avLst/>
          </a:prstGeom>
          <a:noFill/>
        </p:spPr>
        <p:txBody>
          <a:bodyPr wrap="square" rtlCol="0">
            <a:spAutoFit/>
          </a:bodyPr>
          <a:lstStyle/>
          <a:p>
            <a:pPr algn="just"/>
            <a:r>
              <a:rPr lang="en-US" sz="2000" b="1" dirty="0"/>
              <a:t>5. Leakage-free features</a:t>
            </a:r>
            <a:endParaRPr lang="en-US" sz="2000" dirty="0"/>
          </a:p>
          <a:p>
            <a:pPr marL="285750" indent="-285750" algn="just">
              <a:buFont typeface="Arial" panose="020B0604020202020204" pitchFamily="34" charset="0"/>
              <a:buChar char="•"/>
            </a:pPr>
            <a:r>
              <a:rPr lang="en-US" sz="2000" dirty="0"/>
              <a:t>Implemented state buffers and rolling logic to compute only-from-past features: lag1_mean, lag2_mean, </a:t>
            </a:r>
            <a:r>
              <a:rPr lang="en-US" sz="2000" dirty="0" err="1"/>
              <a:t>ewma_mean</a:t>
            </a:r>
            <a:r>
              <a:rPr lang="en-US" sz="2000" dirty="0"/>
              <a:t>, </a:t>
            </a:r>
            <a:r>
              <a:rPr lang="en-US" sz="2000" dirty="0" err="1"/>
              <a:t>prev_count</a:t>
            </a:r>
            <a:r>
              <a:rPr lang="en-US" sz="2000" dirty="0"/>
              <a:t>, </a:t>
            </a:r>
            <a:r>
              <a:rPr lang="en-US" sz="2000" dirty="0" err="1"/>
              <a:t>congestion_freq</a:t>
            </a:r>
            <a:r>
              <a:rPr lang="en-US" sz="2000" dirty="0"/>
              <a:t>, </a:t>
            </a:r>
            <a:r>
              <a:rPr lang="en-US" sz="2000" dirty="0" err="1"/>
              <a:t>log_count</a:t>
            </a:r>
            <a:r>
              <a:rPr lang="en-US" sz="2000" dirty="0"/>
              <a:t>, </a:t>
            </a:r>
            <a:r>
              <a:rPr lang="en-US" sz="2000" dirty="0" err="1"/>
              <a:t>hour_of_day</a:t>
            </a:r>
            <a:r>
              <a:rPr lang="en-US" sz="2000" dirty="0"/>
              <a:t>, </a:t>
            </a:r>
            <a:r>
              <a:rPr lang="en-US" sz="2000" dirty="0" err="1"/>
              <a:t>day_of_week</a:t>
            </a:r>
            <a:r>
              <a:rPr lang="en-US" sz="2000" dirty="0"/>
              <a:t>, </a:t>
            </a:r>
            <a:r>
              <a:rPr lang="en-US" sz="2000" dirty="0" err="1"/>
              <a:t>is_peak</a:t>
            </a:r>
            <a:r>
              <a:rPr lang="en-US" sz="2000" dirty="0"/>
              <a:t>, </a:t>
            </a:r>
            <a:r>
              <a:rPr lang="en-US" sz="2000" dirty="0" err="1"/>
              <a:t>is_weekend</a:t>
            </a:r>
            <a:r>
              <a:rPr lang="en-US" sz="2000" dirty="0"/>
              <a:t>. (Removed neighbor features due to only 2 tiles.)</a:t>
            </a:r>
          </a:p>
          <a:p>
            <a:pPr algn="just"/>
            <a:endParaRPr lang="en-US" sz="2000" dirty="0"/>
          </a:p>
          <a:p>
            <a:pPr algn="just"/>
            <a:r>
              <a:rPr lang="en-US" sz="2000" b="1" dirty="0"/>
              <a:t>6. Model training &amp; tuning</a:t>
            </a:r>
            <a:endParaRPr lang="en-US" sz="2000" dirty="0"/>
          </a:p>
          <a:p>
            <a:pPr marL="285750" indent="-285750" algn="just">
              <a:buFont typeface="Arial" panose="020B0604020202020204" pitchFamily="34" charset="0"/>
              <a:buChar char="•"/>
            </a:pPr>
            <a:r>
              <a:rPr lang="en-US" sz="2000" dirty="0"/>
              <a:t>Built pipelines; trained models (LR, RF, ET, SVC, KNN, </a:t>
            </a:r>
            <a:r>
              <a:rPr lang="en-US" sz="2000" dirty="0" err="1"/>
              <a:t>CatBoost</a:t>
            </a:r>
            <a:r>
              <a:rPr lang="en-US" sz="2000" dirty="0"/>
              <a:t>); hyperparameter search via </a:t>
            </a:r>
            <a:r>
              <a:rPr lang="en-US" sz="2000" dirty="0" err="1"/>
              <a:t>RandomizedSearchCV</a:t>
            </a:r>
            <a:r>
              <a:rPr lang="en-US" sz="2000" dirty="0"/>
              <a:t> with time-aware splitting; serialized best model + preprocessing.</a:t>
            </a:r>
          </a:p>
          <a:p>
            <a:pPr algn="just"/>
            <a:endParaRPr lang="en-US" sz="2000" dirty="0"/>
          </a:p>
          <a:p>
            <a:pPr algn="just"/>
            <a:r>
              <a:rPr lang="en-US" sz="2000" b="1" dirty="0"/>
              <a:t>7. Streaming simulation (deployment emulation)</a:t>
            </a:r>
            <a:endParaRPr lang="en-US" sz="2000" dirty="0"/>
          </a:p>
          <a:p>
            <a:pPr marL="285750" indent="-285750" algn="just">
              <a:buFont typeface="Arial" panose="020B0604020202020204" pitchFamily="34" charset="0"/>
              <a:buChar char="•"/>
            </a:pPr>
            <a:r>
              <a:rPr lang="en-US" sz="2000" dirty="0"/>
              <a:t>Implemented loop: for each incoming window → preprocess &amp; tile → build causal features from buffers → predict → log output → update buffers with actual window stats.</a:t>
            </a:r>
          </a:p>
          <a:p>
            <a:pPr algn="just"/>
            <a:endParaRPr lang="en-US" sz="2000" dirty="0"/>
          </a:p>
          <a:p>
            <a:pPr algn="just"/>
            <a:r>
              <a:rPr lang="en-US" sz="2000" b="1" dirty="0"/>
              <a:t>8. Evaluation &amp; artifacts</a:t>
            </a:r>
            <a:endParaRPr lang="en-US" sz="2000" dirty="0"/>
          </a:p>
          <a:p>
            <a:pPr marL="285750" indent="-285750" algn="just">
              <a:buFont typeface="Arial" panose="020B0604020202020204" pitchFamily="34" charset="0"/>
              <a:buChar char="•"/>
            </a:pPr>
            <a:r>
              <a:rPr lang="en-US" sz="2000" dirty="0"/>
              <a:t>Saved per-window predictions and true labels; produced confusion matrices, ROC (offline), permutation feature importance, and time-series prediction plots; stored under results folder.</a:t>
            </a:r>
          </a:p>
        </p:txBody>
      </p:sp>
    </p:spTree>
    <p:extLst>
      <p:ext uri="{BB962C8B-B14F-4D97-AF65-F5344CB8AC3E}">
        <p14:creationId xmlns:p14="http://schemas.microsoft.com/office/powerpoint/2010/main" val="3682992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2DFAD-28DD-AD28-9037-DDDA6F1229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7403C-4B85-F375-37D6-CDF705AF39FC}"/>
              </a:ext>
            </a:extLst>
          </p:cNvPr>
          <p:cNvSpPr>
            <a:spLocks noGrp="1"/>
          </p:cNvSpPr>
          <p:nvPr>
            <p:ph type="title"/>
          </p:nvPr>
        </p:nvSpPr>
        <p:spPr>
          <a:xfrm>
            <a:off x="1725910" y="541050"/>
            <a:ext cx="8577617" cy="316081"/>
          </a:xfrm>
        </p:spPr>
        <p:txBody>
          <a:bodyPr/>
          <a:lstStyle/>
          <a:p>
            <a:pPr algn="ctr"/>
            <a:r>
              <a:rPr lang="en-US" sz="4000" dirty="0">
                <a:solidFill>
                  <a:srgbClr val="FF0000"/>
                </a:solidFill>
                <a:cs typeface="Times New Roman" panose="02020603050405020304" pitchFamily="18" charset="0"/>
              </a:rPr>
              <a:t>Results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031C9FC3-A9FA-856F-6460-ECC56E7F6AAE}"/>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15</a:t>
            </a:fld>
            <a:endParaRPr lang="en-US" kern="1200">
              <a:solidFill>
                <a:prstClr val="white"/>
              </a:solidFill>
              <a:latin typeface="Calibri"/>
              <a:ea typeface="+mn-ea"/>
              <a:cs typeface="+mn-cs"/>
            </a:endParaRPr>
          </a:p>
        </p:txBody>
      </p:sp>
      <p:pic>
        <p:nvPicPr>
          <p:cNvPr id="6" name="Picture 5">
            <a:extLst>
              <a:ext uri="{FF2B5EF4-FFF2-40B4-BE49-F238E27FC236}">
                <a16:creationId xmlns:a16="http://schemas.microsoft.com/office/drawing/2014/main" id="{E3D174AC-D8B6-EEE1-4D5E-81D80182A633}"/>
              </a:ext>
            </a:extLst>
          </p:cNvPr>
          <p:cNvPicPr>
            <a:picLocks noChangeAspect="1"/>
          </p:cNvPicPr>
          <p:nvPr/>
        </p:nvPicPr>
        <p:blipFill>
          <a:blip r:embed="rId3"/>
          <a:stretch>
            <a:fillRect/>
          </a:stretch>
        </p:blipFill>
        <p:spPr>
          <a:xfrm>
            <a:off x="894966" y="1337970"/>
            <a:ext cx="4753638" cy="4182059"/>
          </a:xfrm>
          <a:prstGeom prst="rect">
            <a:avLst/>
          </a:prstGeom>
        </p:spPr>
      </p:pic>
      <p:pic>
        <p:nvPicPr>
          <p:cNvPr id="7" name="Picture 6">
            <a:extLst>
              <a:ext uri="{FF2B5EF4-FFF2-40B4-BE49-F238E27FC236}">
                <a16:creationId xmlns:a16="http://schemas.microsoft.com/office/drawing/2014/main" id="{DC0F91BA-D363-7893-5B4C-1599C483A95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43398" y="1337970"/>
            <a:ext cx="4796125" cy="4182059"/>
          </a:xfrm>
          <a:prstGeom prst="rect">
            <a:avLst/>
          </a:prstGeom>
          <a:noFill/>
          <a:ln>
            <a:noFill/>
          </a:ln>
        </p:spPr>
      </p:pic>
      <p:sp>
        <p:nvSpPr>
          <p:cNvPr id="8" name="TextBox 7">
            <a:extLst>
              <a:ext uri="{FF2B5EF4-FFF2-40B4-BE49-F238E27FC236}">
                <a16:creationId xmlns:a16="http://schemas.microsoft.com/office/drawing/2014/main" id="{7239D2A7-41C3-E00B-8A95-9A3A062AB255}"/>
              </a:ext>
            </a:extLst>
          </p:cNvPr>
          <p:cNvSpPr txBox="1"/>
          <p:nvPr/>
        </p:nvSpPr>
        <p:spPr>
          <a:xfrm>
            <a:off x="7437120" y="5598160"/>
            <a:ext cx="4339283" cy="307777"/>
          </a:xfrm>
          <a:prstGeom prst="rect">
            <a:avLst/>
          </a:prstGeom>
          <a:noFill/>
        </p:spPr>
        <p:txBody>
          <a:bodyPr wrap="square" rtlCol="0">
            <a:spAutoFit/>
          </a:bodyPr>
          <a:lstStyle/>
          <a:p>
            <a:r>
              <a:rPr lang="en-US" dirty="0"/>
              <a:t>Correlation Heat Map of Extra Trees Model</a:t>
            </a:r>
            <a:endParaRPr lang="en-IN" dirty="0"/>
          </a:p>
        </p:txBody>
      </p:sp>
      <p:sp>
        <p:nvSpPr>
          <p:cNvPr id="9" name="TextBox 8">
            <a:extLst>
              <a:ext uri="{FF2B5EF4-FFF2-40B4-BE49-F238E27FC236}">
                <a16:creationId xmlns:a16="http://schemas.microsoft.com/office/drawing/2014/main" id="{8328E4D1-94D5-9F81-F066-32A2E5A77D82}"/>
              </a:ext>
            </a:extLst>
          </p:cNvPr>
          <p:cNvSpPr txBox="1"/>
          <p:nvPr/>
        </p:nvSpPr>
        <p:spPr>
          <a:xfrm>
            <a:off x="706563" y="5598160"/>
            <a:ext cx="5130444" cy="307777"/>
          </a:xfrm>
          <a:prstGeom prst="rect">
            <a:avLst/>
          </a:prstGeom>
          <a:noFill/>
        </p:spPr>
        <p:txBody>
          <a:bodyPr wrap="square" rtlCol="0">
            <a:spAutoFit/>
          </a:bodyPr>
          <a:lstStyle/>
          <a:p>
            <a:r>
              <a:rPr lang="en-US" dirty="0"/>
              <a:t>Model Comparison Based on ROC-AUC, Accuracy, and F1-Score</a:t>
            </a:r>
            <a:endParaRPr lang="en-IN" dirty="0"/>
          </a:p>
        </p:txBody>
      </p:sp>
    </p:spTree>
    <p:extLst>
      <p:ext uri="{BB962C8B-B14F-4D97-AF65-F5344CB8AC3E}">
        <p14:creationId xmlns:p14="http://schemas.microsoft.com/office/powerpoint/2010/main" val="2867341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D26FB-8D6C-402A-06B4-38D93037E3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E6EE15-E660-068A-9AB0-533F5EEA5799}"/>
              </a:ext>
            </a:extLst>
          </p:cNvPr>
          <p:cNvSpPr>
            <a:spLocks noGrp="1"/>
          </p:cNvSpPr>
          <p:nvPr>
            <p:ph type="title"/>
          </p:nvPr>
        </p:nvSpPr>
        <p:spPr>
          <a:xfrm>
            <a:off x="1725910" y="541050"/>
            <a:ext cx="8577617" cy="316081"/>
          </a:xfrm>
        </p:spPr>
        <p:txBody>
          <a:bodyPr/>
          <a:lstStyle/>
          <a:p>
            <a:pPr algn="ctr"/>
            <a:r>
              <a:rPr lang="en-US" sz="4000" dirty="0">
                <a:solidFill>
                  <a:srgbClr val="FF0000"/>
                </a:solidFill>
                <a:cs typeface="Times New Roman" panose="02020603050405020304" pitchFamily="18" charset="0"/>
              </a:rPr>
              <a:t>Results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168F23E2-CF5E-6E61-A567-DD048508EA30}"/>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16</a:t>
            </a:fld>
            <a:endParaRPr lang="en-US" kern="1200">
              <a:solidFill>
                <a:prstClr val="white"/>
              </a:solidFill>
              <a:latin typeface="Calibri"/>
              <a:ea typeface="+mn-ea"/>
              <a:cs typeface="+mn-cs"/>
            </a:endParaRPr>
          </a:p>
        </p:txBody>
      </p:sp>
      <p:pic>
        <p:nvPicPr>
          <p:cNvPr id="5" name="Picture 4">
            <a:extLst>
              <a:ext uri="{FF2B5EF4-FFF2-40B4-BE49-F238E27FC236}">
                <a16:creationId xmlns:a16="http://schemas.microsoft.com/office/drawing/2014/main" id="{7B9F0FEE-2650-87CB-4693-23469FC6D8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6591" y="1652270"/>
            <a:ext cx="4301201" cy="3553460"/>
          </a:xfrm>
          <a:prstGeom prst="rect">
            <a:avLst/>
          </a:prstGeom>
          <a:noFill/>
          <a:ln>
            <a:noFill/>
          </a:ln>
        </p:spPr>
      </p:pic>
      <p:pic>
        <p:nvPicPr>
          <p:cNvPr id="7" name="Picture 6">
            <a:extLst>
              <a:ext uri="{FF2B5EF4-FFF2-40B4-BE49-F238E27FC236}">
                <a16:creationId xmlns:a16="http://schemas.microsoft.com/office/drawing/2014/main" id="{B7E28E85-40D8-E971-99DD-F39AA84E858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21514" y="1652270"/>
            <a:ext cx="4493895" cy="3553460"/>
          </a:xfrm>
          <a:prstGeom prst="rect">
            <a:avLst/>
          </a:prstGeom>
          <a:noFill/>
          <a:ln>
            <a:noFill/>
          </a:ln>
        </p:spPr>
      </p:pic>
      <p:sp>
        <p:nvSpPr>
          <p:cNvPr id="8" name="TextBox 7">
            <a:extLst>
              <a:ext uri="{FF2B5EF4-FFF2-40B4-BE49-F238E27FC236}">
                <a16:creationId xmlns:a16="http://schemas.microsoft.com/office/drawing/2014/main" id="{F594C7FD-F4D4-BDC7-5C31-1A170F29304E}"/>
              </a:ext>
            </a:extLst>
          </p:cNvPr>
          <p:cNvSpPr txBox="1"/>
          <p:nvPr/>
        </p:nvSpPr>
        <p:spPr>
          <a:xfrm>
            <a:off x="7731760" y="5455920"/>
            <a:ext cx="4043680" cy="316081"/>
          </a:xfrm>
          <a:prstGeom prst="rect">
            <a:avLst/>
          </a:prstGeom>
          <a:noFill/>
        </p:spPr>
        <p:txBody>
          <a:bodyPr wrap="square" rtlCol="0">
            <a:spAutoFit/>
          </a:bodyPr>
          <a:lstStyle/>
          <a:p>
            <a:r>
              <a:rPr lang="en-US" dirty="0"/>
              <a:t>ROC Curve of Extra Trees Model</a:t>
            </a:r>
            <a:endParaRPr lang="en-IN" dirty="0"/>
          </a:p>
        </p:txBody>
      </p:sp>
      <p:sp>
        <p:nvSpPr>
          <p:cNvPr id="9" name="TextBox 8">
            <a:extLst>
              <a:ext uri="{FF2B5EF4-FFF2-40B4-BE49-F238E27FC236}">
                <a16:creationId xmlns:a16="http://schemas.microsoft.com/office/drawing/2014/main" id="{DD376AE7-CF97-FD6C-F12D-41244D5A9581}"/>
              </a:ext>
            </a:extLst>
          </p:cNvPr>
          <p:cNvSpPr txBox="1"/>
          <p:nvPr/>
        </p:nvSpPr>
        <p:spPr>
          <a:xfrm>
            <a:off x="1351280" y="5464224"/>
            <a:ext cx="3759200" cy="307777"/>
          </a:xfrm>
          <a:prstGeom prst="rect">
            <a:avLst/>
          </a:prstGeom>
          <a:noFill/>
        </p:spPr>
        <p:txBody>
          <a:bodyPr wrap="square" rtlCol="0">
            <a:spAutoFit/>
          </a:bodyPr>
          <a:lstStyle/>
          <a:p>
            <a:r>
              <a:rPr lang="en-US" dirty="0"/>
              <a:t>Confusion Matrix of Extra Trees Model</a:t>
            </a:r>
            <a:endParaRPr lang="en-IN" dirty="0"/>
          </a:p>
        </p:txBody>
      </p:sp>
    </p:spTree>
    <p:extLst>
      <p:ext uri="{BB962C8B-B14F-4D97-AF65-F5344CB8AC3E}">
        <p14:creationId xmlns:p14="http://schemas.microsoft.com/office/powerpoint/2010/main" val="2033937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7C9D9-9457-7BED-FEBF-95315DABC1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84C7E7-C01A-05CF-F917-A53AEE574F98}"/>
              </a:ext>
            </a:extLst>
          </p:cNvPr>
          <p:cNvSpPr>
            <a:spLocks noGrp="1"/>
          </p:cNvSpPr>
          <p:nvPr>
            <p:ph type="title"/>
          </p:nvPr>
        </p:nvSpPr>
        <p:spPr>
          <a:xfrm>
            <a:off x="1725910" y="541050"/>
            <a:ext cx="8577617" cy="316081"/>
          </a:xfrm>
        </p:spPr>
        <p:txBody>
          <a:bodyPr/>
          <a:lstStyle/>
          <a:p>
            <a:pPr algn="ctr"/>
            <a:r>
              <a:rPr lang="en-US" sz="4000" dirty="0">
                <a:solidFill>
                  <a:srgbClr val="FF0000"/>
                </a:solidFill>
                <a:cs typeface="Times New Roman" panose="02020603050405020304" pitchFamily="18" charset="0"/>
              </a:rPr>
              <a:t>Conclusion</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F0BE03-6184-8EFD-A4C8-6FE1EEFD0037}"/>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17</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6DCEA1FD-1AF9-795C-6929-5C20254010E0}"/>
              </a:ext>
            </a:extLst>
          </p:cNvPr>
          <p:cNvSpPr txBox="1"/>
          <p:nvPr/>
        </p:nvSpPr>
        <p:spPr>
          <a:xfrm>
            <a:off x="874646" y="1341120"/>
            <a:ext cx="10515600" cy="511531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t>A real-time congestion prediction system was successfully developed using NYC Yellow Taxi data with spatial tiling and temporal windowing.</a:t>
            </a:r>
          </a:p>
          <a:p>
            <a:pPr marL="342900" indent="-342900" algn="just">
              <a:lnSpc>
                <a:spcPct val="150000"/>
              </a:lnSpc>
              <a:buFont typeface="Arial" panose="020B0604020202020204" pitchFamily="34" charset="0"/>
              <a:buChar char="•"/>
            </a:pPr>
            <a:r>
              <a:rPr lang="en-US" sz="2000" dirty="0"/>
              <a:t>Leakage-free feature engineering enabled causal, deployment-ready predictions.</a:t>
            </a:r>
          </a:p>
          <a:p>
            <a:pPr marL="342900" indent="-342900" algn="just">
              <a:lnSpc>
                <a:spcPct val="150000"/>
              </a:lnSpc>
              <a:buFont typeface="Arial" panose="020B0604020202020204" pitchFamily="34" charset="0"/>
              <a:buChar char="•"/>
            </a:pPr>
            <a:r>
              <a:rPr lang="en-US" sz="2000" dirty="0"/>
              <a:t>The Extra Trees classifier achieved the strongest overall offline performance, with an F1-score of </a:t>
            </a:r>
            <a:r>
              <a:rPr lang="en-US" sz="2000" b="1" dirty="0"/>
              <a:t>0.99</a:t>
            </a:r>
            <a:r>
              <a:rPr lang="en-US" sz="2000" dirty="0"/>
              <a:t>, demonstrating exceptional ability to separate congested and non-congested cases using the engineered </a:t>
            </a:r>
            <a:r>
              <a:rPr lang="en-US" sz="2000" dirty="0" err="1"/>
              <a:t>spatio</a:t>
            </a:r>
            <a:r>
              <a:rPr lang="en-US" sz="2000" dirty="0"/>
              <a:t>-temporal features.</a:t>
            </a:r>
          </a:p>
          <a:p>
            <a:pPr marL="342900" indent="-342900" algn="just">
              <a:lnSpc>
                <a:spcPct val="150000"/>
              </a:lnSpc>
              <a:buFont typeface="Arial" panose="020B0604020202020204" pitchFamily="34" charset="0"/>
              <a:buChar char="•"/>
            </a:pPr>
            <a:r>
              <a:rPr lang="en-US" sz="2000" dirty="0"/>
              <a:t>The streaming evaluation confirmed that the system can predict congestion accurately using only past information.</a:t>
            </a:r>
          </a:p>
          <a:p>
            <a:pPr marL="342900" indent="-342900" algn="just">
              <a:lnSpc>
                <a:spcPct val="150000"/>
              </a:lnSpc>
              <a:buFont typeface="Arial" panose="020B0604020202020204" pitchFamily="34" charset="0"/>
              <a:buChar char="•"/>
            </a:pPr>
            <a:r>
              <a:rPr lang="en-US" sz="2000" dirty="0"/>
              <a:t>Overall, the project demonstrates that simple, well-designed models can outperform complex methods in sparse and rapidly changing traffic environments.</a:t>
            </a:r>
          </a:p>
          <a:p>
            <a:pPr marL="342900" indent="-342900" algn="just">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1762981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1" y="571530"/>
            <a:ext cx="8577617" cy="316081"/>
          </a:xfrm>
        </p:spPr>
        <p:txBody>
          <a:bodyPr/>
          <a:lstStyle/>
          <a:p>
            <a:pPr algn="ctr"/>
            <a:r>
              <a:rPr lang="en-US" sz="4000" dirty="0">
                <a:solidFill>
                  <a:srgbClr val="FF0000"/>
                </a:solidFill>
                <a:cs typeface="Times New Roman" panose="02020603050405020304" pitchFamily="18" charset="0"/>
              </a:rPr>
              <a:t>Future Scope</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18</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E5A33C5D-7917-B9D2-95E6-4E5669A116FD}"/>
              </a:ext>
            </a:extLst>
          </p:cNvPr>
          <p:cNvSpPr txBox="1"/>
          <p:nvPr/>
        </p:nvSpPr>
        <p:spPr>
          <a:xfrm>
            <a:off x="1362326" y="1686560"/>
            <a:ext cx="10515600" cy="280698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t>Use a larger multi-month dataset for broader traffic coverage.</a:t>
            </a:r>
          </a:p>
          <a:p>
            <a:pPr marL="342900" indent="-342900">
              <a:lnSpc>
                <a:spcPct val="150000"/>
              </a:lnSpc>
              <a:buFont typeface="Arial" panose="020B0604020202020204" pitchFamily="34" charset="0"/>
              <a:buChar char="•"/>
            </a:pPr>
            <a:r>
              <a:rPr lang="en-US" sz="2000" dirty="0"/>
              <a:t>Explore Graph Neural Networks (GNNs) for richer spatial modeling.</a:t>
            </a:r>
          </a:p>
          <a:p>
            <a:pPr marL="342900" indent="-342900">
              <a:lnSpc>
                <a:spcPct val="150000"/>
              </a:lnSpc>
              <a:buFont typeface="Arial" panose="020B0604020202020204" pitchFamily="34" charset="0"/>
              <a:buChar char="•"/>
            </a:pPr>
            <a:r>
              <a:rPr lang="en-US" sz="2000" dirty="0"/>
              <a:t>Add external features such as weather and road-incident data.</a:t>
            </a:r>
          </a:p>
          <a:p>
            <a:pPr marL="342900" indent="-342900">
              <a:lnSpc>
                <a:spcPct val="150000"/>
              </a:lnSpc>
              <a:buFont typeface="Arial" panose="020B0604020202020204" pitchFamily="34" charset="0"/>
              <a:buChar char="•"/>
            </a:pPr>
            <a:r>
              <a:rPr lang="en-US" sz="2000" dirty="0"/>
              <a:t>Introduce online learning and drift-handling for long-term stability.</a:t>
            </a:r>
          </a:p>
          <a:p>
            <a:pPr marL="342900" indent="-342900">
              <a:lnSpc>
                <a:spcPct val="150000"/>
              </a:lnSpc>
              <a:buFont typeface="Arial" panose="020B0604020202020204" pitchFamily="34" charset="0"/>
              <a:buChar char="•"/>
            </a:pPr>
            <a:r>
              <a:rPr lang="en-US" sz="2000" dirty="0"/>
              <a:t>Deploy as a real-time system using Kafka / </a:t>
            </a:r>
            <a:r>
              <a:rPr lang="en-US" sz="2000" dirty="0" err="1"/>
              <a:t>FastAPI</a:t>
            </a:r>
            <a:r>
              <a:rPr lang="en-US" sz="2000" dirty="0"/>
              <a:t> / Spark Streaming.</a:t>
            </a:r>
          </a:p>
          <a:p>
            <a:pPr marL="342900" indent="-342900">
              <a:lnSpc>
                <a:spcPct val="150000"/>
              </a:lnSpc>
              <a:buFont typeface="Arial" panose="020B0604020202020204" pitchFamily="34" charset="0"/>
              <a:buChar char="•"/>
            </a:pPr>
            <a:r>
              <a:rPr lang="en-US" sz="2000" dirty="0"/>
              <a:t>Develop a live dashboard with congestion heatmaps and predictions.</a:t>
            </a:r>
          </a:p>
        </p:txBody>
      </p:sp>
    </p:spTree>
    <p:extLst>
      <p:ext uri="{BB962C8B-B14F-4D97-AF65-F5344CB8AC3E}">
        <p14:creationId xmlns:p14="http://schemas.microsoft.com/office/powerpoint/2010/main" val="4207634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FAD3F-99E0-20A1-405C-8A546C32E0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6AA80A1-1E20-93AB-37E1-2C5F128FF27A}"/>
              </a:ext>
            </a:extLst>
          </p:cNvPr>
          <p:cNvSpPr>
            <a:spLocks noGrp="1"/>
          </p:cNvSpPr>
          <p:nvPr>
            <p:ph type="title"/>
          </p:nvPr>
        </p:nvSpPr>
        <p:spPr>
          <a:xfrm>
            <a:off x="1807191" y="289778"/>
            <a:ext cx="8577617" cy="316081"/>
          </a:xfrm>
        </p:spPr>
        <p:txBody>
          <a:bodyPr/>
          <a:lstStyle/>
          <a:p>
            <a:pPr algn="ctr"/>
            <a:r>
              <a:rPr lang="en-US" sz="4000" dirty="0">
                <a:solidFill>
                  <a:srgbClr val="FF0000"/>
                </a:solidFill>
                <a:cs typeface="Times New Roman" panose="02020603050405020304" pitchFamily="18" charset="0"/>
              </a:rPr>
              <a:t>References</a:t>
            </a:r>
            <a:endParaRPr lang="en-IN" sz="4000"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3FD20EE8-E698-6668-3745-8F361063CC07}"/>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19</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C8177527-B3D8-0B86-2CDA-77959534E2FE}"/>
              </a:ext>
            </a:extLst>
          </p:cNvPr>
          <p:cNvSpPr txBox="1"/>
          <p:nvPr/>
        </p:nvSpPr>
        <p:spPr>
          <a:xfrm>
            <a:off x="711200" y="812800"/>
            <a:ext cx="11247120" cy="5755422"/>
          </a:xfrm>
          <a:prstGeom prst="rect">
            <a:avLst/>
          </a:prstGeom>
          <a:noFill/>
        </p:spPr>
        <p:txBody>
          <a:bodyPr wrap="square" rtlCol="0">
            <a:spAutoFit/>
          </a:bodyPr>
          <a:lstStyle/>
          <a:p>
            <a:r>
              <a:rPr lang="en-IN" sz="1600" b="1" dirty="0"/>
              <a:t>1. Dai, B.-A., &amp; Ye, B.-L. (2024).</a:t>
            </a:r>
            <a:br>
              <a:rPr lang="en-IN" sz="1600" dirty="0"/>
            </a:br>
            <a:r>
              <a:rPr lang="en-IN" sz="1600" dirty="0"/>
              <a:t>Hybrid Time-Varying Graph Neural Network for Traffic Flow Forecasting. </a:t>
            </a:r>
            <a:r>
              <a:rPr lang="en-IN" sz="1600" i="1" dirty="0"/>
              <a:t>arXiv:2401.10155</a:t>
            </a:r>
            <a:r>
              <a:rPr lang="en-IN" sz="1600" dirty="0"/>
              <a:t>.</a:t>
            </a:r>
          </a:p>
          <a:p>
            <a:r>
              <a:rPr lang="en-IN" sz="1600" b="1" dirty="0"/>
              <a:t>2. Francies, M. L., Khalil, A. T., Amer, H. M., &amp; Ata, M. M. (2025).</a:t>
            </a:r>
            <a:br>
              <a:rPr lang="en-IN" sz="1600" dirty="0"/>
            </a:br>
            <a:r>
              <a:rPr lang="en-IN" sz="1600" dirty="0"/>
              <a:t>Continual Learning STGNN for Real-Time Traffic Forecasting. </a:t>
            </a:r>
            <a:r>
              <a:rPr lang="en-IN" sz="1600" i="1" dirty="0"/>
              <a:t>Springer Journal</a:t>
            </a:r>
            <a:r>
              <a:rPr lang="en-IN" sz="1600" dirty="0"/>
              <a:t>, 2025.</a:t>
            </a:r>
          </a:p>
          <a:p>
            <a:r>
              <a:rPr lang="en-IN" sz="1600" b="1" dirty="0"/>
              <a:t>3. Abbas, Z., Sigurdsson, T. T., Al-</a:t>
            </a:r>
            <a:r>
              <a:rPr lang="en-IN" sz="1600" b="1" dirty="0" err="1"/>
              <a:t>Shishtawy</a:t>
            </a:r>
            <a:r>
              <a:rPr lang="en-IN" sz="1600" b="1" dirty="0"/>
              <a:t>, A., &amp; </a:t>
            </a:r>
            <a:r>
              <a:rPr lang="en-IN" sz="1600" b="1" dirty="0" err="1"/>
              <a:t>Vlassov</a:t>
            </a:r>
            <a:r>
              <a:rPr lang="en-IN" sz="1600" b="1" dirty="0"/>
              <a:t>, V.</a:t>
            </a:r>
            <a:br>
              <a:rPr lang="en-IN" sz="1600" dirty="0"/>
            </a:br>
            <a:r>
              <a:rPr lang="en-IN" sz="1600" dirty="0"/>
              <a:t>Evaluation of Streaming Graph Processing Algorithms for Road Congestion Detection. </a:t>
            </a:r>
            <a:r>
              <a:rPr lang="en-IN" sz="1600" i="1" dirty="0"/>
              <a:t>KTH Royal Institute of Technology</a:t>
            </a:r>
            <a:r>
              <a:rPr lang="en-IN" sz="1600" dirty="0"/>
              <a:t>.</a:t>
            </a:r>
          </a:p>
          <a:p>
            <a:r>
              <a:rPr lang="en-IN" sz="1600" b="1" dirty="0"/>
              <a:t>4. Tran, T., He, D., Kim, J., &amp; Hickman, M.</a:t>
            </a:r>
            <a:br>
              <a:rPr lang="en-IN" sz="1600" dirty="0"/>
            </a:br>
            <a:r>
              <a:rPr lang="en-IN" sz="1600" dirty="0"/>
              <a:t>MSGNN: Multi-Structured Graph Neural Network for Real-Time Incident Prediction. </a:t>
            </a:r>
            <a:r>
              <a:rPr lang="en-IN" sz="1600" i="1" dirty="0"/>
              <a:t>University of Queensland</a:t>
            </a:r>
            <a:r>
              <a:rPr lang="en-IN" sz="1600" dirty="0"/>
              <a:t>.</a:t>
            </a:r>
          </a:p>
          <a:p>
            <a:r>
              <a:rPr lang="en-IN" sz="1600" b="1" dirty="0"/>
              <a:t>5. Wu, Y. (2023).</a:t>
            </a:r>
            <a:br>
              <a:rPr lang="en-IN" sz="1600" dirty="0"/>
            </a:br>
            <a:r>
              <a:rPr lang="en-IN" sz="1600" dirty="0"/>
              <a:t>Real-Time Traffic Flow Monitoring and Congestion Prediction Using Deep Learning. </a:t>
            </a:r>
            <a:r>
              <a:rPr lang="en-IN" sz="1600" i="1" dirty="0"/>
              <a:t>Beijing Normal University</a:t>
            </a:r>
            <a:r>
              <a:rPr lang="en-IN" sz="1600" dirty="0"/>
              <a:t>.</a:t>
            </a:r>
          </a:p>
          <a:p>
            <a:r>
              <a:rPr lang="en-IN" sz="1600" b="1" dirty="0"/>
              <a:t>6. Abbas, Z., Sottovia, P., Hassan, M. A. H., </a:t>
            </a:r>
            <a:r>
              <a:rPr lang="en-IN" sz="1600" b="1" dirty="0" err="1"/>
              <a:t>Foroni</a:t>
            </a:r>
            <a:r>
              <a:rPr lang="en-IN" sz="1600" b="1" dirty="0"/>
              <a:t>, D., &amp; Bortoli, S. (2020).</a:t>
            </a:r>
            <a:br>
              <a:rPr lang="en-IN" sz="1600" dirty="0"/>
            </a:br>
            <a:r>
              <a:rPr lang="en-IN" sz="1600" dirty="0"/>
              <a:t>Real-Time Traffic Jam Detection Using Streaming Graph Analytics. </a:t>
            </a:r>
            <a:r>
              <a:rPr lang="en-IN" sz="1600" i="1" dirty="0"/>
              <a:t>IEEE Big Data 2020</a:t>
            </a:r>
            <a:r>
              <a:rPr lang="en-IN" sz="1600" dirty="0"/>
              <a:t>.</a:t>
            </a:r>
          </a:p>
          <a:p>
            <a:r>
              <a:rPr lang="en-IN" sz="1600" b="1" dirty="0"/>
              <a:t>7. Jin, G., Liu, L., Li, F., &amp; Huang, J.</a:t>
            </a:r>
            <a:br>
              <a:rPr lang="en-IN" sz="1600" dirty="0"/>
            </a:br>
            <a:r>
              <a:rPr lang="en-IN" sz="1600" dirty="0"/>
              <a:t>STGNPP: </a:t>
            </a:r>
            <a:r>
              <a:rPr lang="en-IN" sz="1600" dirty="0" err="1"/>
              <a:t>Spatio</a:t>
            </a:r>
            <a:r>
              <a:rPr lang="en-IN" sz="1600" dirty="0"/>
              <a:t>-Temporal Graph Neural Point Process for Congestion Event Prediction. </a:t>
            </a:r>
            <a:r>
              <a:rPr lang="en-IN" sz="1600" i="1" dirty="0"/>
              <a:t>NUDT &amp; HK </a:t>
            </a:r>
            <a:r>
              <a:rPr lang="en-IN" sz="1600" i="1" dirty="0" err="1"/>
              <a:t>PolyU</a:t>
            </a:r>
            <a:r>
              <a:rPr lang="en-IN" sz="1600" dirty="0"/>
              <a:t>.</a:t>
            </a:r>
          </a:p>
          <a:p>
            <a:r>
              <a:rPr lang="en-IN" sz="1600" b="1" dirty="0"/>
              <a:t>8. Zhao, L., Song, Y., Zhang, C., Liu, Y., Wang, P., Deng, M., Li, H., &amp; Lin, T.</a:t>
            </a:r>
            <a:br>
              <a:rPr lang="en-IN" sz="1600" dirty="0"/>
            </a:br>
            <a:r>
              <a:rPr lang="en-IN" sz="1600" dirty="0"/>
              <a:t>T-GCN: A Temporal Graph Convolutional Network for Traffic Prediction. </a:t>
            </a:r>
            <a:r>
              <a:rPr lang="en-IN" sz="1600" i="1" dirty="0"/>
              <a:t>IEEE Transactions</a:t>
            </a:r>
            <a:r>
              <a:rPr lang="en-IN" sz="1600" dirty="0"/>
              <a:t>.</a:t>
            </a:r>
          </a:p>
          <a:p>
            <a:r>
              <a:rPr lang="en-IN" sz="1600" b="1" dirty="0"/>
              <a:t>9. Zhang, C., Zhang, S., Zou, X., Yu, S., &amp; Yu, J. J. Q.</a:t>
            </a:r>
            <a:br>
              <a:rPr lang="en-IN" sz="1600" dirty="0"/>
            </a:br>
            <a:r>
              <a:rPr lang="en-IN" sz="1600" dirty="0"/>
              <a:t>Large-Scale Graph-Based Traffic Forecasting with Network Partitioning. </a:t>
            </a:r>
            <a:r>
              <a:rPr lang="en-IN" sz="1600" i="1" dirty="0"/>
              <a:t>IEEE Transactions on ITS</a:t>
            </a:r>
            <a:r>
              <a:rPr lang="en-IN" sz="1600" dirty="0"/>
              <a:t>.</a:t>
            </a:r>
          </a:p>
          <a:p>
            <a:r>
              <a:rPr lang="en-IN" sz="1600" b="1" dirty="0"/>
              <a:t>10. Chen, X., Wang, J., &amp; Xie, K.</a:t>
            </a:r>
            <a:br>
              <a:rPr lang="en-IN" sz="1600" dirty="0"/>
            </a:br>
            <a:r>
              <a:rPr lang="en-IN" sz="1600" dirty="0" err="1"/>
              <a:t>TrafficStream</a:t>
            </a:r>
            <a:r>
              <a:rPr lang="en-IN" sz="1600" dirty="0"/>
              <a:t>: A Streaming Traffic Flow Forecasting Framework Based on GNN &amp; Continual Learning. </a:t>
            </a:r>
            <a:r>
              <a:rPr lang="en-IN" sz="1600" i="1" dirty="0"/>
              <a:t>Peking University</a:t>
            </a:r>
            <a:r>
              <a:rPr lang="en-IN" sz="1600" dirty="0"/>
              <a:t>.</a:t>
            </a:r>
          </a:p>
          <a:p>
            <a:r>
              <a:rPr lang="en-IN" sz="1600" b="1" dirty="0"/>
              <a:t>11. Pan, Y. A., Li, F., Li, A., Niu, Z., &amp; Liu, Z.</a:t>
            </a:r>
            <a:br>
              <a:rPr lang="en-IN" sz="1600" dirty="0"/>
            </a:br>
            <a:r>
              <a:rPr lang="en-IN" sz="1600" dirty="0"/>
              <a:t>Physics-Guided </a:t>
            </a:r>
            <a:r>
              <a:rPr lang="en-IN" sz="1600" dirty="0" err="1"/>
              <a:t>Spatio</a:t>
            </a:r>
            <a:r>
              <a:rPr lang="en-IN" sz="1600" dirty="0"/>
              <a:t>-Temporal GNN for Urban Intersection Traffic Prediction. </a:t>
            </a:r>
            <a:r>
              <a:rPr lang="en-IN" sz="1600" i="1" dirty="0"/>
              <a:t>Pennsylvania State University</a:t>
            </a:r>
            <a:r>
              <a:rPr lang="en-IN" sz="1600" dirty="0"/>
              <a:t>.</a:t>
            </a:r>
          </a:p>
          <a:p>
            <a:endParaRPr lang="en-IN" sz="1600" dirty="0"/>
          </a:p>
        </p:txBody>
      </p:sp>
    </p:spTree>
    <p:extLst>
      <p:ext uri="{BB962C8B-B14F-4D97-AF65-F5344CB8AC3E}">
        <p14:creationId xmlns:p14="http://schemas.microsoft.com/office/powerpoint/2010/main" val="1947907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6616C1-5C31-73EF-C6D8-3D293F21043E}"/>
              </a:ext>
            </a:extLst>
          </p:cNvPr>
          <p:cNvSpPr>
            <a:spLocks noGrp="1"/>
          </p:cNvSpPr>
          <p:nvPr>
            <p:ph type="sldNum" sz="quarter" idx="2"/>
          </p:nvPr>
        </p:nvSpPr>
        <p:spPr/>
        <p:txBody>
          <a:bodyPr/>
          <a:lstStyle/>
          <a:p>
            <a:fld id="{86CB4B4D-7CA3-9044-876B-883B54F8677D}" type="slidenum">
              <a:rPr lang="en-IN" smtClean="0"/>
              <a:t>20</a:t>
            </a:fld>
            <a:endParaRPr lang="en-IN"/>
          </a:p>
        </p:txBody>
      </p:sp>
      <p:sp>
        <p:nvSpPr>
          <p:cNvPr id="3" name="Title 2">
            <a:extLst>
              <a:ext uri="{FF2B5EF4-FFF2-40B4-BE49-F238E27FC236}">
                <a16:creationId xmlns:a16="http://schemas.microsoft.com/office/drawing/2014/main" id="{2B667EDC-3EA5-C3DB-B0B4-74241483777B}"/>
              </a:ext>
            </a:extLst>
          </p:cNvPr>
          <p:cNvSpPr>
            <a:spLocks noGrp="1"/>
          </p:cNvSpPr>
          <p:nvPr>
            <p:ph type="title"/>
          </p:nvPr>
        </p:nvSpPr>
        <p:spPr>
          <a:xfrm>
            <a:off x="1121979" y="2398881"/>
            <a:ext cx="10515600" cy="1325563"/>
          </a:xfrm>
        </p:spPr>
        <p:txBody>
          <a:bodyPr>
            <a:normAutofit/>
          </a:bodyPr>
          <a:lstStyle/>
          <a:p>
            <a:r>
              <a:rPr lang="en-US" sz="6600" dirty="0"/>
              <a:t>          THANK YOU</a:t>
            </a:r>
            <a:endParaRPr lang="en-IN" sz="6600" dirty="0"/>
          </a:p>
        </p:txBody>
      </p:sp>
    </p:spTree>
    <p:extLst>
      <p:ext uri="{BB962C8B-B14F-4D97-AF65-F5344CB8AC3E}">
        <p14:creationId xmlns:p14="http://schemas.microsoft.com/office/powerpoint/2010/main" val="1390547548"/>
      </p:ext>
    </p:extLst>
  </p:cSld>
  <p:clrMapOvr>
    <a:masterClrMapping/>
  </p:clrMapOvr>
  <p:transition spd="med"/>
</p:sld>
</file>

<file path=ppt/theme/theme1.xml><?xml version="1.0" encoding="utf-8"?>
<a:theme xmlns:a="http://schemas.openxmlformats.org/drawingml/2006/main" name="NAAC PRT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C PRT Template [Compatibility Mode]" id="{A3D2B74B-B15B-466F-9768-BD91F499C34C}" vid="{0E57DE27-252B-4995-BE16-123377BD3E9E}"/>
    </a:ext>
  </a:ext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50313</TotalTime>
  <Words>2441</Words>
  <Application>Microsoft Office PowerPoint</Application>
  <PresentationFormat>Widescreen</PresentationFormat>
  <Paragraphs>248</Paragraphs>
  <Slides>20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Georgia</vt:lpstr>
      <vt:lpstr>Times New Roman</vt:lpstr>
      <vt:lpstr>NAAC PRT Template</vt:lpstr>
      <vt:lpstr>PowerPoint Presentation</vt:lpstr>
      <vt:lpstr>Introduction</vt:lpstr>
      <vt:lpstr>Problem Statement</vt:lpstr>
      <vt:lpstr>Objectives</vt:lpstr>
      <vt:lpstr>Literature Survey</vt:lpstr>
      <vt:lpstr>Literature Survey</vt:lpstr>
      <vt:lpstr>Literature Survey</vt:lpstr>
      <vt:lpstr>Literature Survey</vt:lpstr>
      <vt:lpstr>Summary</vt:lpstr>
      <vt:lpstr>System Specifications</vt:lpstr>
      <vt:lpstr>System Design</vt:lpstr>
      <vt:lpstr>System Modules</vt:lpstr>
      <vt:lpstr>Implementation Details</vt:lpstr>
      <vt:lpstr>Implementation Details</vt:lpstr>
      <vt:lpstr>Results</vt:lpstr>
      <vt:lpstr>Results</vt:lpstr>
      <vt:lpstr>Conclusion</vt:lpstr>
      <vt:lpstr>Future Scope</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MOUNIKA BEGUM</cp:lastModifiedBy>
  <cp:revision>273</cp:revision>
  <dcterms:modified xsi:type="dcterms:W3CDTF">2025-11-19T06:18:52Z</dcterms:modified>
</cp:coreProperties>
</file>